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Open with the category, not the features. Acorn OS isn't a better document tool — it's the operating system for every customer communication. Plant one sentence: "Every statement, bill, claim and notice becomes a secure, interactive, measurable experience." Pause on the tagline. Then a hook question to the room: how many of your customer communications are still one-way PDFs no one can act on? Set expectation: 15 minutes, then a live look at the working product.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Name the pain the buyer lives with every day. Legacy CCM — Quadient, OpenText Exstream, Precisely — was engineered to mass-produce documents . AI got bolted on as a feature, not a foundation. The result is on screen: static output, channel silos, IT bottlenecks, and compliance treated as remediation. The "digital parsley" line usually earns a laugh — use it, then turn serious: this architecture structurally cannot get you to interactive, outcome-driven communication. Ask which of these four hurts most today and let them pick — it tells you where to lean.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reframe that moves the conversation from cost of production to business outcome — and it's the frame a CFO buys. A document is a means; the outcome is the point. In Acorn OS every template declares an intended outcome (payment, renewal, dispute resolved, "understood") and the platform measures the funnel to it. Line to land: "You already spend millions producing communications — the only question is whether they produce results." If the room is operations-led, this is where you win their sponsor; if it's finance-led, this is the whole pitch.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Acorn OS unifies four things that are normally four different purchases and four integration projects: CCM (create &amp; manage), CXM (orchestrate the journey), IXM (make the document interactive), and AIXM (AI across the lifecycle). Competitors own one or two and bolt on the rest. Don't drill into the acronyms — the payload is unification : one place, one governance model, one audit trail. Every seam you remove is an integration you don't maintain and a compliance gap you don't have. If they're currently stitching a CCM vendor to a CDP to a separate accessibility service, that's your wedge.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product philosophy in one breath — the sentence you want them repeating internally after you leave. Compose the master once ; the platform renders it to an interactive web document, an accessible tagged PDF, email, SMS, print, and even a voice script — each personalized per customer, in the customer's language, on the customer's preferred channel, with failover. One source of truth, every channel, no re-authoring. Let this slide breathe — don't rush it. If you only get one idea to stick,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demo moment. If the room is live, switch to the running viewer and do this for real — it lands ten times harder than the mock. The statement is not a dead PDF: the customer can pay, dispute, go paperless, e-sign, or simply ask a question and get an answer grounded in their own document. Every one of those interactions is captured. This is what converts a cost center into self-service and call deflection . Key line: "The center of the experience is the communication itself — not a portal the customer has to log into and hunt through." Tie back to their contact-center volume if you know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Regulated buyers are afraid of generative AI hallucinating on a legal disclosure — this slide is your answer, and it's often what gets you past the risk committee. The embedded assistant answers only from approved content and the specific document, cites its sources, and when it's unsure it refuses to guess and hands to a human . Every AI action is grounded, cited, confidence-scored and audited; no tenant data trains models by default. Contrast sharply with "AI features" bolted onto legacy tools that have no grounding and no audit. Line to use: "Our AI leaves receipts — you can prove what it did, why, and where it got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audiences win on this slide — sell to both. Business users get a modern drag-and-drop designer with an AI assistant that drafts copy they approve: no more IT tickets for a wording change, no more six-week release for a rate update. Compliance gets teeth: segregation of duties (author ≠ approver, enforced), and an accessibility gate that literally blocks publication of anything that fails WCAG. Governance stops being a policy document nobody reads and becomes something the platform enforces at publish time. If legal or risk is in the room, slow down here — this is their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Come back to outcomes — this is the ROI narrative and the slide your champion screenshots for their CFO. Instead of "we produced four million statements," the report becomes payment completion, call deflection, paperless adoption, renewal rate, dispute-resolution time. The platform ties each communication to its declared outcome and shows the funnel — composed → delivered → viewed → acted → outcome. Frame the value math with their numbers if you have them: even a few points of call deflection on their statement volume pays for the platform. Don't invent client results — this is about the metrics the platform is built to move.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Name the competitors directly — the buyer is almost certainly evaluating one of them, and dodging the comparison reads as weakness. Quadient, OpenText Exstream, Smart Communications, Precisely EngageOne, Messagepoint, Doxim: mature, credible, genuinely strong at high-volume batch production and print. Concede that openly — it builds trust. Then the gap: their AI is bolted on, the document is still static, accessibility is a professional-services line item, and there is no agent/MCP story at all. Acorn OS was built AI-native, interactive-first, accessible-by-default, and agent-ready from day one. You're not asking them to rip-and-replace overnight — pivot straight to the migration slide next to de-risk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For regulated industries this is frequently the deciding slide . Every communication carries a complete chain of custody — you can prove exactly what was sent, to whom, when, using which data, which template and content versions, and which approvals, all against a tamper-evident, hash-chained audit log . Accessibility isn't a remediation project billed by the hour; it's enforced at publish time . If the buyer is a bank, insurer, healthcare or government body, connect to their world: ADA/Section 508 and the growing wave of accessibility litigation and DOJ Title II rules — the cost they're trying to avoid is real and rising. Offer to walk their compliance team through an evidence pack in the follow-up.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De-risk the switch — this dissolves the number-one objection: "we have thousands of templates, we can't move." The Migration Studio uses AI to ingest legacy templates, PDFs and print streams, detect and collapse near-duplicates (a bank's 1,400 disclosure variants become ~80 canonical, parameterized templates), extract the variable data mappings, and generate first-draft modern templates. Parallel-run verification diffs new output against old on production data so you prove equivalence before cutover — the regulator-friendly path. This is also our land-and-expand motion: land one high-value communication, prove the outcome, expand across the estate. Migration becomes the cleanup they've wanted for years, not a risk.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Kill the infrastructure and integration objections in one slide. Regulated clients often can't use pure multi-tenant SaaS — so we deploy the same product into their private cloud or their own VPC, with data residency respected. And communication data never arrives clean: we ingest from anything — files, streams, databases, CRMs, core banking, claims systems, FHIR for healthcare. The forward-looking hook is MCP : Acorn OS is both an MCP server (their AI agents can safely operate approved capabilities, fully audited) and an MCP client (it can pull grounding from their systems). No incumbent has that. If IT/architecture is in the room, this is where they relax.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slide separates you from vaporware — and from competitors who demo mockups. Everything in this deck is backed by a working, tested reference platform , not renders. The full communication lifecycle runs end to end: compose once, render to interactive HTML, accessible PDF and voice, deliver with automatic failover, view, pay, prove with an evidence pack, and archive to tamper-evident storage. 214 automated tests, a live grounded assistant, four API surfaces including MCP. Be honest about maturity if asked — this is a reference platform engineered to production shape, with the industrial substrate (managed Postgres, real send providers, SSO) as the deployment step. Then offer the live walkthrough — console, designer, and a real interactive statement — as the immediate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Close with a small, concrete, low-risk yes . Do not ask them to replace their CCM platform today — ask for one communication . Propose a time-boxed pilot: pick the highest-volume or highest-pain piece (a statement, a dunning notice, an EOB, a welcome pack), we migrate it, make it interactive and accessible, deliver it, and measure the outcome — payment lift, call deflection, or paperless adoption. Agree the success metric before you start — that's what turns a pilot into a rollout. End by restating the vision so it's the last thing they hear: "This is the communication layer for the AI era — and the first oak starts with one acorn." Then name the specific next action and owner before you leave the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058400" cy="365760"/>
          </a:xfrm>
          <a:prstGeom prst="rect">
            <a:avLst/>
          </a:prstGeom>
          <a:noFill/>
        </p:spPr>
        <p:txBody>
          <a:bodyPr wrap="square" anchor="t" lIns="0" rIns="0" tIns="0" bIns="0">
            <a:spAutoFit/>
          </a:bodyPr>
          <a:lstStyle/>
          <a:p>
            <a:pPr algn="l">
              <a:lnSpc>
                <a:spcPct val="100000"/>
              </a:lnSpc>
            </a:pPr>
            <a:r>
              <a:rPr sz="1100" b="0" spc="220">
                <a:solidFill>
                  <a:srgbClr val="D8A24A"/>
                </a:solidFill>
                <a:latin typeface="Consolas"/>
              </a:rPr>
              <a:t>—  </a:t>
            </a:r>
            <a:r>
              <a:rPr sz="1100" b="0" spc="220">
                <a:solidFill>
                  <a:srgbClr val="D8A24A"/>
                </a:solidFill>
                <a:latin typeface="Consolas"/>
              </a:rPr>
              <a:t>AI-NATIVE CUSTOMER COMMUNICATION PLATFORM</a:t>
            </a:r>
          </a:p>
        </p:txBody>
      </p:sp>
      <p:sp>
        <p:nvSpPr>
          <p:cNvPr id="5" name="TextBox 4"/>
          <p:cNvSpPr txBox="1"/>
          <p:nvPr/>
        </p:nvSpPr>
        <p:spPr>
          <a:xfrm>
            <a:off x="822960" y="1691640"/>
            <a:ext cx="10515600" cy="2011680"/>
          </a:xfrm>
          <a:prstGeom prst="rect">
            <a:avLst/>
          </a:prstGeom>
          <a:noFill/>
        </p:spPr>
        <p:txBody>
          <a:bodyPr wrap="square" anchor="t" lIns="0" rIns="0" tIns="0" bIns="0">
            <a:spAutoFit/>
          </a:bodyPr>
          <a:lstStyle/>
          <a:p>
            <a:pPr algn="l">
              <a:lnSpc>
                <a:spcPct val="100000"/>
              </a:lnSpc>
            </a:pPr>
            <a:r>
              <a:rPr sz="10000" b="1">
                <a:solidFill>
                  <a:srgbClr val="EEF2EA"/>
                </a:solidFill>
                <a:latin typeface="Georgia"/>
              </a:rPr>
              <a:t>Acorn </a:t>
            </a:r>
            <a:r>
              <a:rPr sz="10000" b="1">
                <a:solidFill>
                  <a:srgbClr val="D8A24A"/>
                </a:solidFill>
                <a:latin typeface="Georgia"/>
              </a:rPr>
              <a:t>OS</a:t>
            </a:r>
          </a:p>
        </p:txBody>
      </p:sp>
      <p:sp>
        <p:nvSpPr>
          <p:cNvPr id="6" name="TextBox 5"/>
          <p:cNvSpPr txBox="1"/>
          <p:nvPr/>
        </p:nvSpPr>
        <p:spPr>
          <a:xfrm>
            <a:off x="841248" y="3429000"/>
            <a:ext cx="10058400" cy="640080"/>
          </a:xfrm>
          <a:prstGeom prst="rect">
            <a:avLst/>
          </a:prstGeom>
          <a:noFill/>
        </p:spPr>
        <p:txBody>
          <a:bodyPr wrap="square" anchor="t" lIns="0" rIns="0" tIns="0" bIns="0">
            <a:spAutoFit/>
          </a:bodyPr>
          <a:lstStyle/>
          <a:p>
            <a:pPr algn="l">
              <a:lnSpc>
                <a:spcPct val="100000"/>
              </a:lnSpc>
            </a:pPr>
            <a:r>
              <a:rPr sz="3000" b="0">
                <a:solidFill>
                  <a:srgbClr val="EEF2EA"/>
                </a:solidFill>
                <a:latin typeface="Georgia"/>
              </a:rPr>
              <a:t>The communication layer for the AI era.</a:t>
            </a:r>
          </a:p>
        </p:txBody>
      </p:sp>
      <p:sp>
        <p:nvSpPr>
          <p:cNvPr id="7" name="Rectangle 6"/>
          <p:cNvSpPr/>
          <p:nvPr/>
        </p:nvSpPr>
        <p:spPr>
          <a:xfrm>
            <a:off x="868680" y="4297680"/>
            <a:ext cx="2194560" cy="27432"/>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4526280"/>
            <a:ext cx="10515600" cy="457200"/>
          </a:xfrm>
          <a:prstGeom prst="rect">
            <a:avLst/>
          </a:prstGeom>
          <a:noFill/>
        </p:spPr>
        <p:txBody>
          <a:bodyPr wrap="square" anchor="t" lIns="0" rIns="0" tIns="0" bIns="0">
            <a:spAutoFit/>
          </a:bodyPr>
          <a:lstStyle/>
          <a:p>
            <a:pPr algn="l">
              <a:lnSpc>
                <a:spcPct val="100000"/>
              </a:lnSpc>
            </a:pPr>
            <a:r>
              <a:rPr sz="1600" b="1">
                <a:solidFill>
                  <a:srgbClr val="7FB99A"/>
                </a:solidFill>
                <a:latin typeface="Calibri"/>
              </a:rPr>
              <a:t>Compose once</a:t>
            </a:r>
            <a:r>
              <a:rPr sz="1600" b="0">
                <a:solidFill>
                  <a:srgbClr val="9DB3A4"/>
                </a:solidFill>
                <a:latin typeface="Calibri"/>
              </a:rPr>
              <a:t>  ·  </a:t>
            </a:r>
            <a:r>
              <a:rPr sz="1600" b="1">
                <a:solidFill>
                  <a:srgbClr val="7FB99A"/>
                </a:solidFill>
                <a:latin typeface="Calibri"/>
              </a:rPr>
              <a:t>Personalize intelligently</a:t>
            </a:r>
            <a:r>
              <a:rPr sz="1600" b="0">
                <a:solidFill>
                  <a:srgbClr val="9DB3A4"/>
                </a:solidFill>
                <a:latin typeface="Calibri"/>
              </a:rPr>
              <a:t>  ·  </a:t>
            </a:r>
            <a:r>
              <a:rPr sz="1600" b="1">
                <a:solidFill>
                  <a:srgbClr val="7FB99A"/>
                </a:solidFill>
                <a:latin typeface="Calibri"/>
              </a:rPr>
              <a:t>Deliver everywhere</a:t>
            </a:r>
          </a:p>
        </p:txBody>
      </p:sp>
      <p:sp>
        <p:nvSpPr>
          <p:cNvPr id="9" name="TextBox 8"/>
          <p:cNvSpPr txBox="1"/>
          <p:nvPr/>
        </p:nvSpPr>
        <p:spPr>
          <a:xfrm>
            <a:off x="841248" y="5029200"/>
            <a:ext cx="10515600" cy="365760"/>
          </a:xfrm>
          <a:prstGeom prst="rect">
            <a:avLst/>
          </a:prstGeom>
          <a:noFill/>
        </p:spPr>
        <p:txBody>
          <a:bodyPr wrap="square" anchor="t" lIns="0" rIns="0" tIns="0" bIns="0">
            <a:spAutoFit/>
          </a:bodyPr>
          <a:lstStyle/>
          <a:p>
            <a:pPr algn="l">
              <a:lnSpc>
                <a:spcPct val="100000"/>
              </a:lnSpc>
            </a:pPr>
            <a:r>
              <a:rPr sz="1200" b="0" spc="120">
                <a:solidFill>
                  <a:srgbClr val="D8A24A"/>
                </a:solidFill>
                <a:latin typeface="Consolas"/>
              </a:rPr>
              <a:t>CCM  ·  CXM  ·  IXM  ·  AIXM</a:t>
            </a:r>
            <a:r>
              <a:rPr sz="1200" b="0" spc="120">
                <a:solidFill>
                  <a:srgbClr val="9DB3A4"/>
                </a:solidFill>
                <a:latin typeface="Consolas"/>
              </a:rPr>
              <a:t>   unified</a:t>
            </a:r>
          </a:p>
        </p:txBody>
      </p:sp>
      <p:sp>
        <p:nvSpPr>
          <p:cNvPr id="10" name="TextBox 9"/>
          <p:cNvSpPr txBox="1"/>
          <p:nvPr/>
        </p:nvSpPr>
        <p:spPr>
          <a:xfrm>
            <a:off x="841248" y="5943600"/>
            <a:ext cx="10515600" cy="365760"/>
          </a:xfrm>
          <a:prstGeom prst="rect">
            <a:avLst/>
          </a:prstGeom>
          <a:noFill/>
        </p:spPr>
        <p:txBody>
          <a:bodyPr wrap="square" anchor="t" lIns="0" rIns="0" tIns="0" bIns="0">
            <a:spAutoFit/>
          </a:bodyPr>
          <a:lstStyle/>
          <a:p>
            <a:pPr algn="l">
              <a:lnSpc>
                <a:spcPct val="100000"/>
              </a:lnSpc>
            </a:pPr>
            <a:r>
              <a:rPr sz="1200" b="0">
                <a:solidFill>
                  <a:srgbClr val="9DB3A4"/>
                </a:solidFill>
                <a:latin typeface="Consolas"/>
              </a:rPr>
              <a:t>Prepared for  —  </a:t>
            </a:r>
            <a:r>
              <a:rPr sz="1200" b="0">
                <a:solidFill>
                  <a:srgbClr val="EEF2EA"/>
                </a:solidFill>
                <a:latin typeface="Consolas"/>
              </a:rPr>
              <a:t>&lt;client&gt;  ·  &lt;date&gt;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02</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THE PROBLEM</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3000" b="1">
                <a:solidFill>
                  <a:srgbClr val="EEF2EA"/>
                </a:solidFill>
                <a:latin typeface="Georgia"/>
              </a:rPr>
              <a:t>Most CCM is a document factory with AI sprinkled on top like </a:t>
            </a:r>
            <a:r>
              <a:rPr sz="3000" b="1">
                <a:solidFill>
                  <a:srgbClr val="D8A24A"/>
                </a:solidFill>
                <a:latin typeface="Georgia"/>
              </a:rPr>
              <a:t>digital parsley.</a:t>
            </a:r>
          </a:p>
        </p:txBody>
      </p:sp>
      <p:sp>
        <p:nvSpPr>
          <p:cNvPr id="7" name="Rounded Rectangle 6"/>
          <p:cNvSpPr/>
          <p:nvPr/>
        </p:nvSpPr>
        <p:spPr>
          <a:xfrm>
            <a:off x="640080" y="3520440"/>
            <a:ext cx="2615184" cy="251460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776472"/>
            <a:ext cx="2103120" cy="365760"/>
          </a:xfrm>
          <a:prstGeom prst="rect">
            <a:avLst/>
          </a:prstGeom>
          <a:noFill/>
        </p:spPr>
        <p:txBody>
          <a:bodyPr wrap="square" anchor="t" lIns="0" rIns="0" tIns="0" bIns="0">
            <a:spAutoFit/>
          </a:bodyPr>
          <a:lstStyle/>
          <a:p>
            <a:pPr algn="l">
              <a:lnSpc>
                <a:spcPct val="100000"/>
              </a:lnSpc>
            </a:pPr>
            <a:r>
              <a:rPr sz="1300" b="0" spc="120">
                <a:solidFill>
                  <a:srgbClr val="D8A24A"/>
                </a:solidFill>
                <a:latin typeface="Consolas"/>
              </a:rPr>
              <a:t>Static</a:t>
            </a:r>
          </a:p>
        </p:txBody>
      </p:sp>
      <p:sp>
        <p:nvSpPr>
          <p:cNvPr id="9" name="TextBox 8"/>
          <p:cNvSpPr txBox="1"/>
          <p:nvPr/>
        </p:nvSpPr>
        <p:spPr>
          <a:xfrm>
            <a:off x="896112" y="4178808"/>
            <a:ext cx="2103120" cy="548640"/>
          </a:xfrm>
          <a:prstGeom prst="rect">
            <a:avLst/>
          </a:prstGeom>
          <a:noFill/>
        </p:spPr>
        <p:txBody>
          <a:bodyPr wrap="square" anchor="t" lIns="0" rIns="0" tIns="0" bIns="0">
            <a:spAutoFit/>
          </a:bodyPr>
          <a:lstStyle/>
          <a:p>
            <a:pPr algn="l">
              <a:lnSpc>
                <a:spcPct val="105000"/>
              </a:lnSpc>
            </a:pPr>
            <a:r>
              <a:rPr sz="1500" b="1">
                <a:solidFill>
                  <a:srgbClr val="EEF2EA"/>
                </a:solidFill>
                <a:latin typeface="Georgia"/>
              </a:rPr>
              <a:t>One-way documents</a:t>
            </a:r>
          </a:p>
        </p:txBody>
      </p:sp>
      <p:sp>
        <p:nvSpPr>
          <p:cNvPr id="10" name="TextBox 9"/>
          <p:cNvSpPr txBox="1"/>
          <p:nvPr/>
        </p:nvSpPr>
        <p:spPr>
          <a:xfrm>
            <a:off x="896112" y="4846320"/>
            <a:ext cx="2103120" cy="1097280"/>
          </a:xfrm>
          <a:prstGeom prst="rect">
            <a:avLst/>
          </a:prstGeom>
          <a:noFill/>
        </p:spPr>
        <p:txBody>
          <a:bodyPr wrap="square" anchor="t" lIns="0" rIns="0" tIns="0" bIns="0">
            <a:spAutoFit/>
          </a:bodyPr>
          <a:lstStyle/>
          <a:p>
            <a:pPr algn="l">
              <a:lnSpc>
                <a:spcPct val="112000"/>
              </a:lnSpc>
            </a:pPr>
            <a:r>
              <a:rPr sz="1150" b="0">
                <a:solidFill>
                  <a:srgbClr val="9DB3A4"/>
                </a:solidFill>
                <a:latin typeface="Calibri"/>
              </a:rPr>
              <a:t>PDFs and print streams the customer can read but never act on. The work ends where the outcome should begin.</a:t>
            </a:r>
          </a:p>
        </p:txBody>
      </p:sp>
      <p:sp>
        <p:nvSpPr>
          <p:cNvPr id="11" name="Rounded Rectangle 10"/>
          <p:cNvSpPr/>
          <p:nvPr/>
        </p:nvSpPr>
        <p:spPr>
          <a:xfrm>
            <a:off x="3474720" y="3520440"/>
            <a:ext cx="2615184" cy="251460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0752" y="3776472"/>
            <a:ext cx="2103120" cy="365760"/>
          </a:xfrm>
          <a:prstGeom prst="rect">
            <a:avLst/>
          </a:prstGeom>
          <a:noFill/>
        </p:spPr>
        <p:txBody>
          <a:bodyPr wrap="square" anchor="t" lIns="0" rIns="0" tIns="0" bIns="0">
            <a:spAutoFit/>
          </a:bodyPr>
          <a:lstStyle/>
          <a:p>
            <a:pPr algn="l">
              <a:lnSpc>
                <a:spcPct val="100000"/>
              </a:lnSpc>
            </a:pPr>
            <a:r>
              <a:rPr sz="1300" b="0" spc="120">
                <a:solidFill>
                  <a:srgbClr val="D8A24A"/>
                </a:solidFill>
                <a:latin typeface="Consolas"/>
              </a:rPr>
              <a:t>Siloed</a:t>
            </a:r>
          </a:p>
        </p:txBody>
      </p:sp>
      <p:sp>
        <p:nvSpPr>
          <p:cNvPr id="13" name="TextBox 12"/>
          <p:cNvSpPr txBox="1"/>
          <p:nvPr/>
        </p:nvSpPr>
        <p:spPr>
          <a:xfrm>
            <a:off x="3730752" y="4178808"/>
            <a:ext cx="2103120" cy="548640"/>
          </a:xfrm>
          <a:prstGeom prst="rect">
            <a:avLst/>
          </a:prstGeom>
          <a:noFill/>
        </p:spPr>
        <p:txBody>
          <a:bodyPr wrap="square" anchor="t" lIns="0" rIns="0" tIns="0" bIns="0">
            <a:spAutoFit/>
          </a:bodyPr>
          <a:lstStyle/>
          <a:p>
            <a:pPr algn="l">
              <a:lnSpc>
                <a:spcPct val="105000"/>
              </a:lnSpc>
            </a:pPr>
            <a:r>
              <a:rPr sz="1500" b="1">
                <a:solidFill>
                  <a:srgbClr val="EEF2EA"/>
                </a:solidFill>
                <a:latin typeface="Georgia"/>
              </a:rPr>
              <a:t>Channels don't talk</a:t>
            </a:r>
          </a:p>
        </p:txBody>
      </p:sp>
      <p:sp>
        <p:nvSpPr>
          <p:cNvPr id="14" name="TextBox 13"/>
          <p:cNvSpPr txBox="1"/>
          <p:nvPr/>
        </p:nvSpPr>
        <p:spPr>
          <a:xfrm>
            <a:off x="3730752" y="4846320"/>
            <a:ext cx="2103120" cy="1097280"/>
          </a:xfrm>
          <a:prstGeom prst="rect">
            <a:avLst/>
          </a:prstGeom>
          <a:noFill/>
        </p:spPr>
        <p:txBody>
          <a:bodyPr wrap="square" anchor="t" lIns="0" rIns="0" tIns="0" bIns="0">
            <a:spAutoFit/>
          </a:bodyPr>
          <a:lstStyle/>
          <a:p>
            <a:pPr algn="l">
              <a:lnSpc>
                <a:spcPct val="112000"/>
              </a:lnSpc>
            </a:pPr>
            <a:r>
              <a:rPr sz="1150" b="0">
                <a:solidFill>
                  <a:srgbClr val="9DB3A4"/>
                </a:solidFill>
                <a:latin typeface="Calibri"/>
              </a:rPr>
              <a:t>Email, SMS, print and portal each run on different tools, with no shared preference, consent or journey.</a:t>
            </a:r>
          </a:p>
        </p:txBody>
      </p:sp>
      <p:sp>
        <p:nvSpPr>
          <p:cNvPr id="15" name="Rounded Rectangle 14"/>
          <p:cNvSpPr/>
          <p:nvPr/>
        </p:nvSpPr>
        <p:spPr>
          <a:xfrm>
            <a:off x="6309359" y="3520440"/>
            <a:ext cx="2615184" cy="251460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3776472"/>
            <a:ext cx="2103120" cy="365760"/>
          </a:xfrm>
          <a:prstGeom prst="rect">
            <a:avLst/>
          </a:prstGeom>
          <a:noFill/>
        </p:spPr>
        <p:txBody>
          <a:bodyPr wrap="square" anchor="t" lIns="0" rIns="0" tIns="0" bIns="0">
            <a:spAutoFit/>
          </a:bodyPr>
          <a:lstStyle/>
          <a:p>
            <a:pPr algn="l">
              <a:lnSpc>
                <a:spcPct val="100000"/>
              </a:lnSpc>
            </a:pPr>
            <a:r>
              <a:rPr sz="1300" b="0" spc="120">
                <a:solidFill>
                  <a:srgbClr val="D8A24A"/>
                </a:solidFill>
                <a:latin typeface="Consolas"/>
              </a:rPr>
              <a:t>Slow</a:t>
            </a:r>
          </a:p>
        </p:txBody>
      </p:sp>
      <p:sp>
        <p:nvSpPr>
          <p:cNvPr id="17" name="TextBox 16"/>
          <p:cNvSpPr txBox="1"/>
          <p:nvPr/>
        </p:nvSpPr>
        <p:spPr>
          <a:xfrm>
            <a:off x="6565392" y="4178808"/>
            <a:ext cx="2103120" cy="548640"/>
          </a:xfrm>
          <a:prstGeom prst="rect">
            <a:avLst/>
          </a:prstGeom>
          <a:noFill/>
        </p:spPr>
        <p:txBody>
          <a:bodyPr wrap="square" anchor="t" lIns="0" rIns="0" tIns="0" bIns="0">
            <a:spAutoFit/>
          </a:bodyPr>
          <a:lstStyle/>
          <a:p>
            <a:pPr algn="l">
              <a:lnSpc>
                <a:spcPct val="105000"/>
              </a:lnSpc>
            </a:pPr>
            <a:r>
              <a:rPr sz="1500" b="1">
                <a:solidFill>
                  <a:srgbClr val="EEF2EA"/>
                </a:solidFill>
                <a:latin typeface="Georgia"/>
              </a:rPr>
              <a:t>Every change waits on IT</a:t>
            </a:r>
          </a:p>
        </p:txBody>
      </p:sp>
      <p:sp>
        <p:nvSpPr>
          <p:cNvPr id="18" name="TextBox 17"/>
          <p:cNvSpPr txBox="1"/>
          <p:nvPr/>
        </p:nvSpPr>
        <p:spPr>
          <a:xfrm>
            <a:off x="6565392" y="4846320"/>
            <a:ext cx="2103120" cy="1097280"/>
          </a:xfrm>
          <a:prstGeom prst="rect">
            <a:avLst/>
          </a:prstGeom>
          <a:noFill/>
        </p:spPr>
        <p:txBody>
          <a:bodyPr wrap="square" anchor="t" lIns="0" rIns="0" tIns="0" bIns="0">
            <a:spAutoFit/>
          </a:bodyPr>
          <a:lstStyle/>
          <a:p>
            <a:pPr algn="l">
              <a:lnSpc>
                <a:spcPct val="112000"/>
              </a:lnSpc>
            </a:pPr>
            <a:r>
              <a:rPr sz="1150" b="0">
                <a:solidFill>
                  <a:srgbClr val="9DB3A4"/>
                </a:solidFill>
                <a:latin typeface="Calibri"/>
              </a:rPr>
              <a:t>A one-line wording update becomes a ticket, a release, and weeks of lead time.</a:t>
            </a:r>
          </a:p>
        </p:txBody>
      </p:sp>
      <p:sp>
        <p:nvSpPr>
          <p:cNvPr id="19" name="Rounded Rectangle 18"/>
          <p:cNvSpPr/>
          <p:nvPr/>
        </p:nvSpPr>
        <p:spPr>
          <a:xfrm>
            <a:off x="9143999" y="3520440"/>
            <a:ext cx="2615184" cy="251460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0031" y="3776472"/>
            <a:ext cx="2103120" cy="365760"/>
          </a:xfrm>
          <a:prstGeom prst="rect">
            <a:avLst/>
          </a:prstGeom>
          <a:noFill/>
        </p:spPr>
        <p:txBody>
          <a:bodyPr wrap="square" anchor="t" lIns="0" rIns="0" tIns="0" bIns="0">
            <a:spAutoFit/>
          </a:bodyPr>
          <a:lstStyle/>
          <a:p>
            <a:pPr algn="l">
              <a:lnSpc>
                <a:spcPct val="100000"/>
              </a:lnSpc>
            </a:pPr>
            <a:r>
              <a:rPr sz="1300" b="0" spc="120">
                <a:solidFill>
                  <a:srgbClr val="D8A24A"/>
                </a:solidFill>
                <a:latin typeface="Consolas"/>
              </a:rPr>
              <a:t>Risky</a:t>
            </a:r>
          </a:p>
        </p:txBody>
      </p:sp>
      <p:sp>
        <p:nvSpPr>
          <p:cNvPr id="21" name="TextBox 20"/>
          <p:cNvSpPr txBox="1"/>
          <p:nvPr/>
        </p:nvSpPr>
        <p:spPr>
          <a:xfrm>
            <a:off x="9400031" y="4178808"/>
            <a:ext cx="2103120" cy="548640"/>
          </a:xfrm>
          <a:prstGeom prst="rect">
            <a:avLst/>
          </a:prstGeom>
          <a:noFill/>
        </p:spPr>
        <p:txBody>
          <a:bodyPr wrap="square" anchor="t" lIns="0" rIns="0" tIns="0" bIns="0">
            <a:spAutoFit/>
          </a:bodyPr>
          <a:lstStyle/>
          <a:p>
            <a:pPr algn="l">
              <a:lnSpc>
                <a:spcPct val="105000"/>
              </a:lnSpc>
            </a:pPr>
            <a:r>
              <a:rPr sz="1500" b="1">
                <a:solidFill>
                  <a:srgbClr val="EEF2EA"/>
                </a:solidFill>
                <a:latin typeface="Georgia"/>
              </a:rPr>
              <a:t>Compliance &amp; accessibility bolted on</a:t>
            </a:r>
          </a:p>
        </p:txBody>
      </p:sp>
      <p:sp>
        <p:nvSpPr>
          <p:cNvPr id="22" name="TextBox 21"/>
          <p:cNvSpPr txBox="1"/>
          <p:nvPr/>
        </p:nvSpPr>
        <p:spPr>
          <a:xfrm>
            <a:off x="9400031" y="4846320"/>
            <a:ext cx="2103120" cy="1097280"/>
          </a:xfrm>
          <a:prstGeom prst="rect">
            <a:avLst/>
          </a:prstGeom>
          <a:noFill/>
        </p:spPr>
        <p:txBody>
          <a:bodyPr wrap="square" anchor="t" lIns="0" rIns="0" tIns="0" bIns="0">
            <a:spAutoFit/>
          </a:bodyPr>
          <a:lstStyle/>
          <a:p>
            <a:pPr algn="l">
              <a:lnSpc>
                <a:spcPct val="112000"/>
              </a:lnSpc>
            </a:pPr>
            <a:r>
              <a:rPr sz="1150" b="0">
                <a:solidFill>
                  <a:srgbClr val="9DB3A4"/>
                </a:solidFill>
                <a:latin typeface="Calibri"/>
              </a:rPr>
              <a:t>Audit trails, WCAG and proof-of-delivery are afterthoughts — and afterthoughts are where lawsuits live.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03</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THE SHIFT</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3200" b="1">
                <a:solidFill>
                  <a:srgbClr val="EEF2EA"/>
                </a:solidFill>
                <a:latin typeface="Georgia"/>
              </a:rPr>
              <a:t>From producing documents to </a:t>
            </a:r>
            <a:r>
              <a:rPr sz="3200" b="1">
                <a:solidFill>
                  <a:srgbClr val="D8A24A"/>
                </a:solidFill>
                <a:latin typeface="Georgia"/>
              </a:rPr>
              <a:t>driving outcomes.</a:t>
            </a:r>
          </a:p>
        </p:txBody>
      </p:sp>
      <p:sp>
        <p:nvSpPr>
          <p:cNvPr id="7" name="Rounded Rectangle 6"/>
          <p:cNvSpPr/>
          <p:nvPr/>
        </p:nvSpPr>
        <p:spPr>
          <a:xfrm>
            <a:off x="640080" y="3200400"/>
            <a:ext cx="5257800" cy="21945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56432"/>
            <a:ext cx="4709160" cy="365760"/>
          </a:xfrm>
          <a:prstGeom prst="rect">
            <a:avLst/>
          </a:prstGeom>
          <a:noFill/>
        </p:spPr>
        <p:txBody>
          <a:bodyPr wrap="square" anchor="t" lIns="0" rIns="0" tIns="0" bIns="0">
            <a:spAutoFit/>
          </a:bodyPr>
          <a:lstStyle/>
          <a:p>
            <a:pPr algn="l">
              <a:lnSpc>
                <a:spcPct val="100000"/>
              </a:lnSpc>
            </a:pPr>
            <a:r>
              <a:rPr sz="1100" b="0" spc="160">
                <a:solidFill>
                  <a:srgbClr val="9DB3A4"/>
                </a:solidFill>
                <a:latin typeface="Consolas"/>
              </a:rPr>
              <a:t>THE OLD SCORECARD</a:t>
            </a:r>
          </a:p>
        </p:txBody>
      </p:sp>
      <p:sp>
        <p:nvSpPr>
          <p:cNvPr id="9" name="TextBox 8"/>
          <p:cNvSpPr txBox="1"/>
          <p:nvPr/>
        </p:nvSpPr>
        <p:spPr>
          <a:xfrm>
            <a:off x="914400" y="3977639"/>
            <a:ext cx="4709160" cy="320040"/>
          </a:xfrm>
          <a:prstGeom prst="rect">
            <a:avLst/>
          </a:prstGeom>
          <a:noFill/>
        </p:spPr>
        <p:txBody>
          <a:bodyPr wrap="square" anchor="t" lIns="0" rIns="0" tIns="0" bIns="0">
            <a:spAutoFit/>
          </a:bodyPr>
          <a:lstStyle/>
          <a:p>
            <a:pPr algn="l">
              <a:lnSpc>
                <a:spcPct val="100000"/>
              </a:lnSpc>
            </a:pPr>
            <a:r>
              <a:rPr sz="1400" b="0">
                <a:solidFill>
                  <a:srgbClr val="9DB3A4"/>
                </a:solidFill>
                <a:latin typeface="Calibri"/>
              </a:rPr>
              <a:t>✕  </a:t>
            </a:r>
            <a:r>
              <a:rPr sz="1400" b="0">
                <a:solidFill>
                  <a:srgbClr val="9DB3A4"/>
                </a:solidFill>
                <a:latin typeface="Calibri"/>
              </a:rPr>
              <a:t>Documents produced</a:t>
            </a:r>
          </a:p>
        </p:txBody>
      </p:sp>
      <p:sp>
        <p:nvSpPr>
          <p:cNvPr id="10" name="TextBox 9"/>
          <p:cNvSpPr txBox="1"/>
          <p:nvPr/>
        </p:nvSpPr>
        <p:spPr>
          <a:xfrm>
            <a:off x="914400" y="4306824"/>
            <a:ext cx="4709160" cy="320040"/>
          </a:xfrm>
          <a:prstGeom prst="rect">
            <a:avLst/>
          </a:prstGeom>
          <a:noFill/>
        </p:spPr>
        <p:txBody>
          <a:bodyPr wrap="square" anchor="t" lIns="0" rIns="0" tIns="0" bIns="0">
            <a:spAutoFit/>
          </a:bodyPr>
          <a:lstStyle/>
          <a:p>
            <a:pPr algn="l">
              <a:lnSpc>
                <a:spcPct val="100000"/>
              </a:lnSpc>
            </a:pPr>
            <a:r>
              <a:rPr sz="1400" b="0">
                <a:solidFill>
                  <a:srgbClr val="9DB3A4"/>
                </a:solidFill>
                <a:latin typeface="Calibri"/>
              </a:rPr>
              <a:t>✕  </a:t>
            </a:r>
            <a:r>
              <a:rPr sz="1400" b="0">
                <a:solidFill>
                  <a:srgbClr val="9DB3A4"/>
                </a:solidFill>
                <a:latin typeface="Calibri"/>
              </a:rPr>
              <a:t>Pages printed</a:t>
            </a:r>
          </a:p>
        </p:txBody>
      </p:sp>
      <p:sp>
        <p:nvSpPr>
          <p:cNvPr id="11" name="TextBox 10"/>
          <p:cNvSpPr txBox="1"/>
          <p:nvPr/>
        </p:nvSpPr>
        <p:spPr>
          <a:xfrm>
            <a:off x="914400" y="4636007"/>
            <a:ext cx="4709160" cy="320040"/>
          </a:xfrm>
          <a:prstGeom prst="rect">
            <a:avLst/>
          </a:prstGeom>
          <a:noFill/>
        </p:spPr>
        <p:txBody>
          <a:bodyPr wrap="square" anchor="t" lIns="0" rIns="0" tIns="0" bIns="0">
            <a:spAutoFit/>
          </a:bodyPr>
          <a:lstStyle/>
          <a:p>
            <a:pPr algn="l">
              <a:lnSpc>
                <a:spcPct val="100000"/>
              </a:lnSpc>
            </a:pPr>
            <a:r>
              <a:rPr sz="1400" b="0">
                <a:solidFill>
                  <a:srgbClr val="9DB3A4"/>
                </a:solidFill>
                <a:latin typeface="Calibri"/>
              </a:rPr>
              <a:t>✕  </a:t>
            </a:r>
            <a:r>
              <a:rPr sz="1400" b="0">
                <a:solidFill>
                  <a:srgbClr val="9DB3A4"/>
                </a:solidFill>
                <a:latin typeface="Calibri"/>
              </a:rPr>
              <a:t>Batches delivered</a:t>
            </a:r>
          </a:p>
        </p:txBody>
      </p:sp>
      <p:sp>
        <p:nvSpPr>
          <p:cNvPr id="12" name="TextBox 11"/>
          <p:cNvSpPr txBox="1"/>
          <p:nvPr/>
        </p:nvSpPr>
        <p:spPr>
          <a:xfrm>
            <a:off x="914400" y="4965192"/>
            <a:ext cx="4709160" cy="320040"/>
          </a:xfrm>
          <a:prstGeom prst="rect">
            <a:avLst/>
          </a:prstGeom>
          <a:noFill/>
        </p:spPr>
        <p:txBody>
          <a:bodyPr wrap="square" anchor="t" lIns="0" rIns="0" tIns="0" bIns="0">
            <a:spAutoFit/>
          </a:bodyPr>
          <a:lstStyle/>
          <a:p>
            <a:pPr algn="l">
              <a:lnSpc>
                <a:spcPct val="100000"/>
              </a:lnSpc>
            </a:pPr>
            <a:r>
              <a:rPr sz="1400" b="0">
                <a:solidFill>
                  <a:srgbClr val="9DB3A4"/>
                </a:solidFill>
                <a:latin typeface="Calibri"/>
              </a:rPr>
              <a:t>✕  </a:t>
            </a:r>
            <a:r>
              <a:rPr sz="1400" b="0">
                <a:solidFill>
                  <a:srgbClr val="9DB3A4"/>
                </a:solidFill>
                <a:latin typeface="Calibri"/>
              </a:rPr>
              <a:t>SLA met</a:t>
            </a:r>
          </a:p>
        </p:txBody>
      </p:sp>
      <p:sp>
        <p:nvSpPr>
          <p:cNvPr id="13" name="Rounded Rectangle 12"/>
          <p:cNvSpPr/>
          <p:nvPr/>
        </p:nvSpPr>
        <p:spPr>
          <a:xfrm>
            <a:off x="6263640" y="3200400"/>
            <a:ext cx="5257800" cy="2194560"/>
          </a:xfrm>
          <a:prstGeom prst="roundRect">
            <a:avLst>
              <a:gd name="adj" fmla="val 5000"/>
            </a:avLst>
          </a:prstGeom>
          <a:solidFill>
            <a:srgbClr val="162A20"/>
          </a:solidFill>
          <a:ln w="15875">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456432"/>
            <a:ext cx="4709160" cy="365760"/>
          </a:xfrm>
          <a:prstGeom prst="rect">
            <a:avLst/>
          </a:prstGeom>
          <a:noFill/>
        </p:spPr>
        <p:txBody>
          <a:bodyPr wrap="square" anchor="t" lIns="0" rIns="0" tIns="0" bIns="0">
            <a:spAutoFit/>
          </a:bodyPr>
          <a:lstStyle/>
          <a:p>
            <a:pPr algn="l">
              <a:lnSpc>
                <a:spcPct val="100000"/>
              </a:lnSpc>
            </a:pPr>
            <a:r>
              <a:rPr sz="1100" b="0" spc="160">
                <a:solidFill>
                  <a:srgbClr val="D8A24A"/>
                </a:solidFill>
                <a:latin typeface="Consolas"/>
              </a:rPr>
              <a:t>THE ACORN OS SCORECARD</a:t>
            </a:r>
          </a:p>
        </p:txBody>
      </p:sp>
      <p:sp>
        <p:nvSpPr>
          <p:cNvPr id="15" name="TextBox 14"/>
          <p:cNvSpPr txBox="1"/>
          <p:nvPr/>
        </p:nvSpPr>
        <p:spPr>
          <a:xfrm>
            <a:off x="6537960" y="3977639"/>
            <a:ext cx="4709160" cy="320040"/>
          </a:xfrm>
          <a:prstGeom prst="rect">
            <a:avLst/>
          </a:prstGeom>
          <a:noFill/>
        </p:spPr>
        <p:txBody>
          <a:bodyPr wrap="square" anchor="t" lIns="0" rIns="0" tIns="0" bIns="0">
            <a:spAutoFit/>
          </a:bodyPr>
          <a:lstStyle/>
          <a:p>
            <a:pPr algn="l">
              <a:lnSpc>
                <a:spcPct val="100000"/>
              </a:lnSpc>
            </a:pPr>
            <a:r>
              <a:rPr sz="1400" b="0">
                <a:solidFill>
                  <a:srgbClr val="D8A24A"/>
                </a:solidFill>
                <a:latin typeface="Calibri"/>
              </a:rPr>
              <a:t>✓  </a:t>
            </a:r>
            <a:r>
              <a:rPr sz="1400" b="1">
                <a:solidFill>
                  <a:srgbClr val="EEF2EA"/>
                </a:solidFill>
                <a:latin typeface="Calibri"/>
              </a:rPr>
              <a:t>Customer understood</a:t>
            </a:r>
          </a:p>
        </p:txBody>
      </p:sp>
      <p:sp>
        <p:nvSpPr>
          <p:cNvPr id="16" name="TextBox 15"/>
          <p:cNvSpPr txBox="1"/>
          <p:nvPr/>
        </p:nvSpPr>
        <p:spPr>
          <a:xfrm>
            <a:off x="6537960" y="4306824"/>
            <a:ext cx="4709160" cy="320040"/>
          </a:xfrm>
          <a:prstGeom prst="rect">
            <a:avLst/>
          </a:prstGeom>
          <a:noFill/>
        </p:spPr>
        <p:txBody>
          <a:bodyPr wrap="square" anchor="t" lIns="0" rIns="0" tIns="0" bIns="0">
            <a:spAutoFit/>
          </a:bodyPr>
          <a:lstStyle/>
          <a:p>
            <a:pPr algn="l">
              <a:lnSpc>
                <a:spcPct val="100000"/>
              </a:lnSpc>
            </a:pPr>
            <a:r>
              <a:rPr sz="1400" b="0">
                <a:solidFill>
                  <a:srgbClr val="D8A24A"/>
                </a:solidFill>
                <a:latin typeface="Calibri"/>
              </a:rPr>
              <a:t>✓  </a:t>
            </a:r>
            <a:r>
              <a:rPr sz="1400" b="1">
                <a:solidFill>
                  <a:srgbClr val="EEF2EA"/>
                </a:solidFill>
                <a:latin typeface="Calibri"/>
              </a:rPr>
              <a:t>Payment completed</a:t>
            </a:r>
          </a:p>
        </p:txBody>
      </p:sp>
      <p:sp>
        <p:nvSpPr>
          <p:cNvPr id="17" name="TextBox 16"/>
          <p:cNvSpPr txBox="1"/>
          <p:nvPr/>
        </p:nvSpPr>
        <p:spPr>
          <a:xfrm>
            <a:off x="6537960" y="4636007"/>
            <a:ext cx="4709160" cy="320040"/>
          </a:xfrm>
          <a:prstGeom prst="rect">
            <a:avLst/>
          </a:prstGeom>
          <a:noFill/>
        </p:spPr>
        <p:txBody>
          <a:bodyPr wrap="square" anchor="t" lIns="0" rIns="0" tIns="0" bIns="0">
            <a:spAutoFit/>
          </a:bodyPr>
          <a:lstStyle/>
          <a:p>
            <a:pPr algn="l">
              <a:lnSpc>
                <a:spcPct val="100000"/>
              </a:lnSpc>
            </a:pPr>
            <a:r>
              <a:rPr sz="1400" b="0">
                <a:solidFill>
                  <a:srgbClr val="D8A24A"/>
                </a:solidFill>
                <a:latin typeface="Calibri"/>
              </a:rPr>
              <a:t>✓  </a:t>
            </a:r>
            <a:r>
              <a:rPr sz="1400" b="1">
                <a:solidFill>
                  <a:srgbClr val="EEF2EA"/>
                </a:solidFill>
                <a:latin typeface="Calibri"/>
              </a:rPr>
              <a:t>Renewal secured</a:t>
            </a:r>
          </a:p>
        </p:txBody>
      </p:sp>
      <p:sp>
        <p:nvSpPr>
          <p:cNvPr id="18" name="TextBox 17"/>
          <p:cNvSpPr txBox="1"/>
          <p:nvPr/>
        </p:nvSpPr>
        <p:spPr>
          <a:xfrm>
            <a:off x="6537960" y="4965192"/>
            <a:ext cx="4709160" cy="320040"/>
          </a:xfrm>
          <a:prstGeom prst="rect">
            <a:avLst/>
          </a:prstGeom>
          <a:noFill/>
        </p:spPr>
        <p:txBody>
          <a:bodyPr wrap="square" anchor="t" lIns="0" rIns="0" tIns="0" bIns="0">
            <a:spAutoFit/>
          </a:bodyPr>
          <a:lstStyle/>
          <a:p>
            <a:pPr algn="l">
              <a:lnSpc>
                <a:spcPct val="100000"/>
              </a:lnSpc>
            </a:pPr>
            <a:r>
              <a:rPr sz="1400" b="0">
                <a:solidFill>
                  <a:srgbClr val="D8A24A"/>
                </a:solidFill>
                <a:latin typeface="Calibri"/>
              </a:rPr>
              <a:t>✓  </a:t>
            </a:r>
            <a:r>
              <a:rPr sz="1400" b="1">
                <a:solidFill>
                  <a:srgbClr val="EEF2EA"/>
                </a:solidFill>
                <a:latin typeface="Calibri"/>
              </a:rPr>
              <a:t>Call avoided</a:t>
            </a:r>
          </a:p>
        </p:txBody>
      </p:sp>
      <p:sp>
        <p:nvSpPr>
          <p:cNvPr id="19" name="TextBox 18"/>
          <p:cNvSpPr txBox="1"/>
          <p:nvPr/>
        </p:nvSpPr>
        <p:spPr>
          <a:xfrm>
            <a:off x="640080" y="5623560"/>
            <a:ext cx="10881360" cy="457200"/>
          </a:xfrm>
          <a:prstGeom prst="rect">
            <a:avLst/>
          </a:prstGeom>
          <a:noFill/>
        </p:spPr>
        <p:txBody>
          <a:bodyPr wrap="square" anchor="t" lIns="0" rIns="0" tIns="0" bIns="0">
            <a:spAutoFit/>
          </a:bodyPr>
          <a:lstStyle/>
          <a:p>
            <a:pPr algn="l">
              <a:lnSpc>
                <a:spcPct val="100000"/>
              </a:lnSpc>
            </a:pPr>
            <a:r>
              <a:rPr sz="1300" b="0">
                <a:solidFill>
                  <a:srgbClr val="7FB99A"/>
                </a:solidFill>
                <a:latin typeface="Calibri"/>
              </a:rPr>
              <a:t>Every template declares its intended outcome. Every journey and dashboard measures progress toward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04</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WHAT IT IS</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3100" b="1">
                <a:solidFill>
                  <a:srgbClr val="EEF2EA"/>
                </a:solidFill>
                <a:latin typeface="Georgia"/>
              </a:rPr>
              <a:t>Four disciplines, unified into </a:t>
            </a:r>
            <a:r>
              <a:rPr sz="3100" b="1">
                <a:solidFill>
                  <a:srgbClr val="D8A24A"/>
                </a:solidFill>
                <a:latin typeface="Georgia"/>
              </a:rPr>
              <a:t>one AI-native platform.</a:t>
            </a:r>
          </a:p>
        </p:txBody>
      </p:sp>
      <p:sp>
        <p:nvSpPr>
          <p:cNvPr id="7" name="Rounded Rectangle 6"/>
          <p:cNvSpPr/>
          <p:nvPr/>
        </p:nvSpPr>
        <p:spPr>
          <a:xfrm>
            <a:off x="640080" y="3200400"/>
            <a:ext cx="2615184" cy="26517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200400"/>
            <a:ext cx="2615184" cy="82296"/>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11296"/>
            <a:ext cx="2103120" cy="457200"/>
          </a:xfrm>
          <a:prstGeom prst="rect">
            <a:avLst/>
          </a:prstGeom>
          <a:noFill/>
        </p:spPr>
        <p:txBody>
          <a:bodyPr wrap="square" anchor="t" lIns="0" rIns="0" tIns="0" bIns="0">
            <a:spAutoFit/>
          </a:bodyPr>
          <a:lstStyle/>
          <a:p>
            <a:pPr algn="l">
              <a:lnSpc>
                <a:spcPct val="100000"/>
              </a:lnSpc>
            </a:pPr>
            <a:r>
              <a:rPr sz="2000" b="1">
                <a:solidFill>
                  <a:srgbClr val="D8A24A"/>
                </a:solidFill>
                <a:latin typeface="Georgia"/>
              </a:rPr>
              <a:t>CCM</a:t>
            </a:r>
          </a:p>
        </p:txBody>
      </p:sp>
      <p:sp>
        <p:nvSpPr>
          <p:cNvPr id="10" name="TextBox 9"/>
          <p:cNvSpPr txBox="1"/>
          <p:nvPr/>
        </p:nvSpPr>
        <p:spPr>
          <a:xfrm>
            <a:off x="896112" y="4041648"/>
            <a:ext cx="2103120" cy="365760"/>
          </a:xfrm>
          <a:prstGeom prst="rect">
            <a:avLst/>
          </a:prstGeom>
          <a:noFill/>
        </p:spPr>
        <p:txBody>
          <a:bodyPr wrap="square" anchor="t" lIns="0" rIns="0" tIns="0" bIns="0">
            <a:spAutoFit/>
          </a:bodyPr>
          <a:lstStyle/>
          <a:p>
            <a:pPr algn="l">
              <a:lnSpc>
                <a:spcPct val="100000"/>
              </a:lnSpc>
            </a:pPr>
            <a:r>
              <a:rPr sz="1050" b="0" spc="160">
                <a:solidFill>
                  <a:srgbClr val="7FB99A"/>
                </a:solidFill>
                <a:latin typeface="Consolas"/>
              </a:rPr>
              <a:t>CREATE</a:t>
            </a:r>
          </a:p>
        </p:txBody>
      </p:sp>
      <p:sp>
        <p:nvSpPr>
          <p:cNvPr id="11" name="TextBox 10"/>
          <p:cNvSpPr txBox="1"/>
          <p:nvPr/>
        </p:nvSpPr>
        <p:spPr>
          <a:xfrm>
            <a:off x="896112" y="4526280"/>
            <a:ext cx="2103120" cy="1188720"/>
          </a:xfrm>
          <a:prstGeom prst="rect">
            <a:avLst/>
          </a:prstGeom>
          <a:noFill/>
        </p:spPr>
        <p:txBody>
          <a:bodyPr wrap="square" anchor="t" lIns="0" rIns="0" tIns="0" bIns="0">
            <a:spAutoFit/>
          </a:bodyPr>
          <a:lstStyle/>
          <a:p>
            <a:pPr algn="l">
              <a:lnSpc>
                <a:spcPct val="115000"/>
              </a:lnSpc>
            </a:pPr>
            <a:r>
              <a:rPr sz="1200" b="0">
                <a:solidFill>
                  <a:srgbClr val="9DB3A4"/>
                </a:solidFill>
                <a:latin typeface="Calibri"/>
              </a:rPr>
              <a:t>Compose, manage content, approve, and produce — batch or on-demand — with full version control.</a:t>
            </a:r>
          </a:p>
        </p:txBody>
      </p:sp>
      <p:sp>
        <p:nvSpPr>
          <p:cNvPr id="12" name="Rounded Rectangle 11"/>
          <p:cNvSpPr/>
          <p:nvPr/>
        </p:nvSpPr>
        <p:spPr>
          <a:xfrm>
            <a:off x="3474720" y="3200400"/>
            <a:ext cx="2615184" cy="26517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3200400"/>
            <a:ext cx="2615184" cy="82296"/>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0752" y="3511296"/>
            <a:ext cx="2103120" cy="457200"/>
          </a:xfrm>
          <a:prstGeom prst="rect">
            <a:avLst/>
          </a:prstGeom>
          <a:noFill/>
        </p:spPr>
        <p:txBody>
          <a:bodyPr wrap="square" anchor="t" lIns="0" rIns="0" tIns="0" bIns="0">
            <a:spAutoFit/>
          </a:bodyPr>
          <a:lstStyle/>
          <a:p>
            <a:pPr algn="l">
              <a:lnSpc>
                <a:spcPct val="100000"/>
              </a:lnSpc>
            </a:pPr>
            <a:r>
              <a:rPr sz="2000" b="1">
                <a:solidFill>
                  <a:srgbClr val="D8A24A"/>
                </a:solidFill>
                <a:latin typeface="Georgia"/>
              </a:rPr>
              <a:t>CXM</a:t>
            </a:r>
          </a:p>
        </p:txBody>
      </p:sp>
      <p:sp>
        <p:nvSpPr>
          <p:cNvPr id="15" name="TextBox 14"/>
          <p:cNvSpPr txBox="1"/>
          <p:nvPr/>
        </p:nvSpPr>
        <p:spPr>
          <a:xfrm>
            <a:off x="3730752" y="4041648"/>
            <a:ext cx="2103120" cy="365760"/>
          </a:xfrm>
          <a:prstGeom prst="rect">
            <a:avLst/>
          </a:prstGeom>
          <a:noFill/>
        </p:spPr>
        <p:txBody>
          <a:bodyPr wrap="square" anchor="t" lIns="0" rIns="0" tIns="0" bIns="0">
            <a:spAutoFit/>
          </a:bodyPr>
          <a:lstStyle/>
          <a:p>
            <a:pPr algn="l">
              <a:lnSpc>
                <a:spcPct val="100000"/>
              </a:lnSpc>
            </a:pPr>
            <a:r>
              <a:rPr sz="1050" b="0" spc="160">
                <a:solidFill>
                  <a:srgbClr val="7FB99A"/>
                </a:solidFill>
                <a:latin typeface="Consolas"/>
              </a:rPr>
              <a:t>ORCHESTRATE</a:t>
            </a:r>
          </a:p>
        </p:txBody>
      </p:sp>
      <p:sp>
        <p:nvSpPr>
          <p:cNvPr id="16" name="TextBox 15"/>
          <p:cNvSpPr txBox="1"/>
          <p:nvPr/>
        </p:nvSpPr>
        <p:spPr>
          <a:xfrm>
            <a:off x="3730752" y="4526280"/>
            <a:ext cx="2103120" cy="1188720"/>
          </a:xfrm>
          <a:prstGeom prst="rect">
            <a:avLst/>
          </a:prstGeom>
          <a:noFill/>
        </p:spPr>
        <p:txBody>
          <a:bodyPr wrap="square" anchor="t" lIns="0" rIns="0" tIns="0" bIns="0">
            <a:spAutoFit/>
          </a:bodyPr>
          <a:lstStyle/>
          <a:p>
            <a:pPr algn="l">
              <a:lnSpc>
                <a:spcPct val="115000"/>
              </a:lnSpc>
            </a:pPr>
            <a:r>
              <a:rPr sz="1200" b="0">
                <a:solidFill>
                  <a:srgbClr val="9DB3A4"/>
                </a:solidFill>
                <a:latin typeface="Calibri"/>
              </a:rPr>
              <a:t>Personalized journeys across every channel, with preference, consent and next-best-action built in.</a:t>
            </a:r>
          </a:p>
        </p:txBody>
      </p:sp>
      <p:sp>
        <p:nvSpPr>
          <p:cNvPr id="17" name="Rounded Rectangle 16"/>
          <p:cNvSpPr/>
          <p:nvPr/>
        </p:nvSpPr>
        <p:spPr>
          <a:xfrm>
            <a:off x="6309359" y="3200400"/>
            <a:ext cx="2615184" cy="26517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59" y="3200400"/>
            <a:ext cx="2615184" cy="82296"/>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3511296"/>
            <a:ext cx="2103120" cy="457200"/>
          </a:xfrm>
          <a:prstGeom prst="rect">
            <a:avLst/>
          </a:prstGeom>
          <a:noFill/>
        </p:spPr>
        <p:txBody>
          <a:bodyPr wrap="square" anchor="t" lIns="0" rIns="0" tIns="0" bIns="0">
            <a:spAutoFit/>
          </a:bodyPr>
          <a:lstStyle/>
          <a:p>
            <a:pPr algn="l">
              <a:lnSpc>
                <a:spcPct val="100000"/>
              </a:lnSpc>
            </a:pPr>
            <a:r>
              <a:rPr sz="2000" b="1">
                <a:solidFill>
                  <a:srgbClr val="D8A24A"/>
                </a:solidFill>
                <a:latin typeface="Georgia"/>
              </a:rPr>
              <a:t>IXM</a:t>
            </a:r>
          </a:p>
        </p:txBody>
      </p:sp>
      <p:sp>
        <p:nvSpPr>
          <p:cNvPr id="20" name="TextBox 19"/>
          <p:cNvSpPr txBox="1"/>
          <p:nvPr/>
        </p:nvSpPr>
        <p:spPr>
          <a:xfrm>
            <a:off x="6565392" y="4041648"/>
            <a:ext cx="2103120" cy="365760"/>
          </a:xfrm>
          <a:prstGeom prst="rect">
            <a:avLst/>
          </a:prstGeom>
          <a:noFill/>
        </p:spPr>
        <p:txBody>
          <a:bodyPr wrap="square" anchor="t" lIns="0" rIns="0" tIns="0" bIns="0">
            <a:spAutoFit/>
          </a:bodyPr>
          <a:lstStyle/>
          <a:p>
            <a:pPr algn="l">
              <a:lnSpc>
                <a:spcPct val="100000"/>
              </a:lnSpc>
            </a:pPr>
            <a:r>
              <a:rPr sz="1050" b="0" spc="160">
                <a:solidFill>
                  <a:srgbClr val="7FB99A"/>
                </a:solidFill>
                <a:latin typeface="Consolas"/>
              </a:rPr>
              <a:t>INTERACT</a:t>
            </a:r>
          </a:p>
        </p:txBody>
      </p:sp>
      <p:sp>
        <p:nvSpPr>
          <p:cNvPr id="21" name="TextBox 20"/>
          <p:cNvSpPr txBox="1"/>
          <p:nvPr/>
        </p:nvSpPr>
        <p:spPr>
          <a:xfrm>
            <a:off x="6565392" y="4526280"/>
            <a:ext cx="2103120" cy="1188720"/>
          </a:xfrm>
          <a:prstGeom prst="rect">
            <a:avLst/>
          </a:prstGeom>
          <a:noFill/>
        </p:spPr>
        <p:txBody>
          <a:bodyPr wrap="square" anchor="t" lIns="0" rIns="0" tIns="0" bIns="0">
            <a:spAutoFit/>
          </a:bodyPr>
          <a:lstStyle/>
          <a:p>
            <a:pPr algn="l">
              <a:lnSpc>
                <a:spcPct val="115000"/>
              </a:lnSpc>
            </a:pPr>
            <a:r>
              <a:rPr sz="1200" b="0">
                <a:solidFill>
                  <a:srgbClr val="9DB3A4"/>
                </a:solidFill>
                <a:latin typeface="Calibri"/>
              </a:rPr>
              <a:t>The document itself becomes interactive — pay, dispute, sign, ask — inside the communication.</a:t>
            </a:r>
          </a:p>
        </p:txBody>
      </p:sp>
      <p:sp>
        <p:nvSpPr>
          <p:cNvPr id="22" name="Rounded Rectangle 21"/>
          <p:cNvSpPr/>
          <p:nvPr/>
        </p:nvSpPr>
        <p:spPr>
          <a:xfrm>
            <a:off x="9143999" y="3200400"/>
            <a:ext cx="2615184" cy="26517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999" y="3200400"/>
            <a:ext cx="2615184" cy="82296"/>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0031" y="3511296"/>
            <a:ext cx="2103120" cy="457200"/>
          </a:xfrm>
          <a:prstGeom prst="rect">
            <a:avLst/>
          </a:prstGeom>
          <a:noFill/>
        </p:spPr>
        <p:txBody>
          <a:bodyPr wrap="square" anchor="t" lIns="0" rIns="0" tIns="0" bIns="0">
            <a:spAutoFit/>
          </a:bodyPr>
          <a:lstStyle/>
          <a:p>
            <a:pPr algn="l">
              <a:lnSpc>
                <a:spcPct val="100000"/>
              </a:lnSpc>
            </a:pPr>
            <a:r>
              <a:rPr sz="2000" b="1">
                <a:solidFill>
                  <a:srgbClr val="D8A24A"/>
                </a:solidFill>
                <a:latin typeface="Georgia"/>
              </a:rPr>
              <a:t>AIXM</a:t>
            </a:r>
          </a:p>
        </p:txBody>
      </p:sp>
      <p:sp>
        <p:nvSpPr>
          <p:cNvPr id="25" name="TextBox 24"/>
          <p:cNvSpPr txBox="1"/>
          <p:nvPr/>
        </p:nvSpPr>
        <p:spPr>
          <a:xfrm>
            <a:off x="9400031" y="4041648"/>
            <a:ext cx="2103120" cy="365760"/>
          </a:xfrm>
          <a:prstGeom prst="rect">
            <a:avLst/>
          </a:prstGeom>
          <a:noFill/>
        </p:spPr>
        <p:txBody>
          <a:bodyPr wrap="square" anchor="t" lIns="0" rIns="0" tIns="0" bIns="0">
            <a:spAutoFit/>
          </a:bodyPr>
          <a:lstStyle/>
          <a:p>
            <a:pPr algn="l">
              <a:lnSpc>
                <a:spcPct val="100000"/>
              </a:lnSpc>
            </a:pPr>
            <a:r>
              <a:rPr sz="1050" b="0" spc="160">
                <a:solidFill>
                  <a:srgbClr val="7FB99A"/>
                </a:solidFill>
                <a:latin typeface="Consolas"/>
              </a:rPr>
              <a:t>INTELLIGENCE</a:t>
            </a:r>
          </a:p>
        </p:txBody>
      </p:sp>
      <p:sp>
        <p:nvSpPr>
          <p:cNvPr id="26" name="TextBox 25"/>
          <p:cNvSpPr txBox="1"/>
          <p:nvPr/>
        </p:nvSpPr>
        <p:spPr>
          <a:xfrm>
            <a:off x="9400031" y="4526280"/>
            <a:ext cx="2103120" cy="1188720"/>
          </a:xfrm>
          <a:prstGeom prst="rect">
            <a:avLst/>
          </a:prstGeom>
          <a:noFill/>
        </p:spPr>
        <p:txBody>
          <a:bodyPr wrap="square" anchor="t" lIns="0" rIns="0" tIns="0" bIns="0">
            <a:spAutoFit/>
          </a:bodyPr>
          <a:lstStyle/>
          <a:p>
            <a:pPr algn="l">
              <a:lnSpc>
                <a:spcPct val="115000"/>
              </a:lnSpc>
            </a:pPr>
            <a:r>
              <a:rPr sz="1200" b="0">
                <a:solidFill>
                  <a:srgbClr val="9DB3A4"/>
                </a:solidFill>
                <a:latin typeface="Calibri"/>
              </a:rPr>
              <a:t>Governed AI across the whole lifecycle: authoring, migration, compliance, accessibility, analytics.</a:t>
            </a:r>
          </a:p>
        </p:txBody>
      </p:sp>
      <p:sp>
        <p:nvSpPr>
          <p:cNvPr id="27" name="TextBox 26"/>
          <p:cNvSpPr txBox="1"/>
          <p:nvPr/>
        </p:nvSpPr>
        <p:spPr>
          <a:xfrm>
            <a:off x="640080" y="6053328"/>
            <a:ext cx="10881360" cy="457200"/>
          </a:xfrm>
          <a:prstGeom prst="rect">
            <a:avLst/>
          </a:prstGeom>
          <a:noFill/>
        </p:spPr>
        <p:txBody>
          <a:bodyPr wrap="square" anchor="t" lIns="0" rIns="0" tIns="0" bIns="0">
            <a:spAutoFit/>
          </a:bodyPr>
          <a:lstStyle/>
          <a:p>
            <a:pPr algn="l">
              <a:lnSpc>
                <a:spcPct val="100000"/>
              </a:lnSpc>
            </a:pPr>
            <a:r>
              <a:rPr sz="1300" b="0">
                <a:solidFill>
                  <a:srgbClr val="9DB3A4"/>
                </a:solidFill>
                <a:latin typeface="Calibri"/>
              </a:rPr>
              <a:t>Usually four separate vendors. In Acorn OS:  </a:t>
            </a:r>
            <a:r>
              <a:rPr sz="1300" b="1">
                <a:solidFill>
                  <a:srgbClr val="EEF2EA"/>
                </a:solidFill>
                <a:latin typeface="Calibri"/>
              </a:rPr>
              <a:t>one core, one data model, one chain of custody.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05</a:t>
            </a:r>
            <a:r>
              <a:rPr sz="1100" b="0">
                <a:solidFill>
                  <a:srgbClr val="9DB3A4"/>
                </a:solidFill>
                <a:latin typeface="Consolas"/>
              </a:rPr>
              <a:t>  /  15</a:t>
            </a:r>
          </a:p>
        </p:txBody>
      </p:sp>
      <p:sp>
        <p:nvSpPr>
          <p:cNvPr id="5" name="TextBox 4"/>
          <p:cNvSpPr txBox="1"/>
          <p:nvPr/>
        </p:nvSpPr>
        <p:spPr>
          <a:xfrm>
            <a:off x="822960" y="1463040"/>
            <a:ext cx="10515600" cy="365760"/>
          </a:xfrm>
          <a:prstGeom prst="rect">
            <a:avLst/>
          </a:prstGeom>
          <a:noFill/>
        </p:spPr>
        <p:txBody>
          <a:bodyPr wrap="square" anchor="t" lIns="0" rIns="0" tIns="0" bIns="0">
            <a:spAutoFit/>
          </a:bodyPr>
          <a:lstStyle/>
          <a:p>
            <a:pPr algn="ctr">
              <a:lnSpc>
                <a:spcPct val="100000"/>
              </a:lnSpc>
            </a:pPr>
            <a:r>
              <a:rPr sz="1200" b="0" spc="220">
                <a:solidFill>
                  <a:srgbClr val="D8A24A"/>
                </a:solidFill>
                <a:latin typeface="Consolas"/>
              </a:rPr>
              <a:t>—  </a:t>
            </a:r>
            <a:r>
              <a:rPr sz="1200" b="0" spc="220">
                <a:solidFill>
                  <a:srgbClr val="D8A24A"/>
                </a:solidFill>
                <a:latin typeface="Consolas"/>
              </a:rPr>
              <a:t>THE PRINCIPLE</a:t>
            </a:r>
          </a:p>
        </p:txBody>
      </p:sp>
      <p:sp>
        <p:nvSpPr>
          <p:cNvPr id="6" name="TextBox 5"/>
          <p:cNvSpPr txBox="1"/>
          <p:nvPr/>
        </p:nvSpPr>
        <p:spPr>
          <a:xfrm>
            <a:off x="1097280" y="2468880"/>
            <a:ext cx="9966960" cy="2011680"/>
          </a:xfrm>
          <a:prstGeom prst="rect">
            <a:avLst/>
          </a:prstGeom>
          <a:noFill/>
        </p:spPr>
        <p:txBody>
          <a:bodyPr wrap="square" anchor="t" lIns="0" rIns="0" tIns="0" bIns="0">
            <a:spAutoFit/>
          </a:bodyPr>
          <a:lstStyle/>
          <a:p>
            <a:pPr algn="ctr">
              <a:lnSpc>
                <a:spcPct val="110000"/>
              </a:lnSpc>
            </a:pPr>
            <a:r>
              <a:rPr sz="4000" b="1">
                <a:solidFill>
                  <a:srgbClr val="EEF2EA"/>
                </a:solidFill>
                <a:latin typeface="Georgia"/>
              </a:rPr>
              <a:t>Compose once. </a:t>
            </a:r>
            <a:r>
              <a:rPr sz="4000" b="1">
                <a:solidFill>
                  <a:srgbClr val="D8A24A"/>
                </a:solidFill>
                <a:latin typeface="Georgia"/>
              </a:rPr>
              <a:t>Personalize intelligently. </a:t>
            </a:r>
            <a:r>
              <a:rPr sz="4000" b="1">
                <a:solidFill>
                  <a:srgbClr val="EEF2EA"/>
                </a:solidFill>
                <a:latin typeface="Georgia"/>
              </a:rPr>
              <a:t>Deliver everywhere.</a:t>
            </a:r>
          </a:p>
        </p:txBody>
      </p:sp>
      <p:sp>
        <p:nvSpPr>
          <p:cNvPr id="7" name="Rectangle 6"/>
          <p:cNvSpPr/>
          <p:nvPr/>
        </p:nvSpPr>
        <p:spPr>
          <a:xfrm>
            <a:off x="4998567" y="4617720"/>
            <a:ext cx="2194560" cy="27432"/>
          </a:xfrm>
          <a:prstGeom prst="rect">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937760"/>
            <a:ext cx="9418320" cy="822960"/>
          </a:xfrm>
          <a:prstGeom prst="rect">
            <a:avLst/>
          </a:prstGeom>
          <a:noFill/>
        </p:spPr>
        <p:txBody>
          <a:bodyPr wrap="square" anchor="t" lIns="0" rIns="0" tIns="0" bIns="0">
            <a:spAutoFit/>
          </a:bodyPr>
          <a:lstStyle/>
          <a:p>
            <a:pPr algn="ctr">
              <a:lnSpc>
                <a:spcPct val="120000"/>
              </a:lnSpc>
            </a:pPr>
            <a:r>
              <a:rPr sz="1700" b="0">
                <a:solidFill>
                  <a:srgbClr val="9DB3A4"/>
                </a:solidFill>
                <a:latin typeface="Calibri"/>
              </a:rPr>
              <a:t>Make every communication interactive, compliant, accessible, measurable and outcome-driven.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06</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PRODUCT — THE INTERACTIVE DOCUMENT</a:t>
            </a:r>
          </a:p>
        </p:txBody>
      </p:sp>
      <p:sp>
        <p:nvSpPr>
          <p:cNvPr id="6" name="TextBox 5"/>
          <p:cNvSpPr txBox="1"/>
          <p:nvPr/>
        </p:nvSpPr>
        <p:spPr>
          <a:xfrm>
            <a:off x="640080" y="1828800"/>
            <a:ext cx="5669280" cy="1645920"/>
          </a:xfrm>
          <a:prstGeom prst="rect">
            <a:avLst/>
          </a:prstGeom>
          <a:noFill/>
        </p:spPr>
        <p:txBody>
          <a:bodyPr wrap="square" anchor="t" lIns="0" rIns="0" tIns="0" bIns="0">
            <a:spAutoFit/>
          </a:bodyPr>
          <a:lstStyle/>
          <a:p>
            <a:pPr algn="l">
              <a:lnSpc>
                <a:spcPct val="102000"/>
              </a:lnSpc>
            </a:pPr>
            <a:r>
              <a:rPr sz="3000" b="1">
                <a:solidFill>
                  <a:srgbClr val="EEF2EA"/>
                </a:solidFill>
                <a:latin typeface="Georgia"/>
              </a:rPr>
              <a:t>The document becomes the </a:t>
            </a:r>
            <a:r>
              <a:rPr sz="3000" b="1">
                <a:solidFill>
                  <a:srgbClr val="D8A24A"/>
                </a:solidFill>
                <a:latin typeface="Georgia"/>
              </a:rPr>
              <a:t>experience.</a:t>
            </a:r>
          </a:p>
        </p:txBody>
      </p:sp>
      <p:sp>
        <p:nvSpPr>
          <p:cNvPr id="7" name="TextBox 6"/>
          <p:cNvSpPr txBox="1"/>
          <p:nvPr/>
        </p:nvSpPr>
        <p:spPr>
          <a:xfrm>
            <a:off x="640080" y="304495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8" name="TextBox 7"/>
          <p:cNvSpPr txBox="1"/>
          <p:nvPr/>
        </p:nvSpPr>
        <p:spPr>
          <a:xfrm>
            <a:off x="1005840" y="3063240"/>
            <a:ext cx="5029200" cy="1005840"/>
          </a:xfrm>
          <a:prstGeom prst="rect">
            <a:avLst/>
          </a:prstGeom>
          <a:noFill/>
        </p:spPr>
        <p:txBody>
          <a:bodyPr wrap="square" anchor="t" lIns="0" rIns="0" tIns="0" bIns="0">
            <a:spAutoFit/>
          </a:bodyPr>
          <a:lstStyle/>
          <a:p>
            <a:pPr algn="l">
              <a:lnSpc>
                <a:spcPct val="115000"/>
              </a:lnSpc>
            </a:pPr>
            <a:r>
              <a:rPr sz="1500" b="1">
                <a:solidFill>
                  <a:srgbClr val="EEF2EA"/>
                </a:solidFill>
                <a:latin typeface="Calibri"/>
              </a:rPr>
              <a:t>Act inside the communication. </a:t>
            </a:r>
            <a:r>
              <a:rPr sz="1300" b="0">
                <a:solidFill>
                  <a:srgbClr val="9DB3A4"/>
                </a:solidFill>
                <a:latin typeface="Calibri"/>
              </a:rPr>
              <a:t>Pay, dispute, upload, e-sign, update details — no portal to go find, no call to make.</a:t>
            </a:r>
          </a:p>
        </p:txBody>
      </p:sp>
      <p:sp>
        <p:nvSpPr>
          <p:cNvPr id="9" name="TextBox 8"/>
          <p:cNvSpPr txBox="1"/>
          <p:nvPr/>
        </p:nvSpPr>
        <p:spPr>
          <a:xfrm>
            <a:off x="640080" y="409651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0" name="TextBox 9"/>
          <p:cNvSpPr txBox="1"/>
          <p:nvPr/>
        </p:nvSpPr>
        <p:spPr>
          <a:xfrm>
            <a:off x="1005840" y="4114800"/>
            <a:ext cx="5029200" cy="1005840"/>
          </a:xfrm>
          <a:prstGeom prst="rect">
            <a:avLst/>
          </a:prstGeom>
          <a:noFill/>
        </p:spPr>
        <p:txBody>
          <a:bodyPr wrap="square" anchor="t" lIns="0" rIns="0" tIns="0" bIns="0">
            <a:spAutoFit/>
          </a:bodyPr>
          <a:lstStyle/>
          <a:p>
            <a:pPr algn="l">
              <a:lnSpc>
                <a:spcPct val="115000"/>
              </a:lnSpc>
            </a:pPr>
            <a:r>
              <a:rPr sz="1500" b="1">
                <a:solidFill>
                  <a:srgbClr val="EEF2EA"/>
                </a:solidFill>
                <a:latin typeface="Calibri"/>
              </a:rPr>
              <a:t>Understand it. </a:t>
            </a:r>
            <a:r>
              <a:rPr sz="1300" b="0">
                <a:solidFill>
                  <a:srgbClr val="9DB3A4"/>
                </a:solidFill>
                <a:latin typeface="Calibri"/>
              </a:rPr>
              <a:t>Expandable sections, plain-language explanations, and guided next steps built into the page.</a:t>
            </a:r>
          </a:p>
        </p:txBody>
      </p:sp>
      <p:sp>
        <p:nvSpPr>
          <p:cNvPr id="11" name="TextBox 10"/>
          <p:cNvSpPr txBox="1"/>
          <p:nvPr/>
        </p:nvSpPr>
        <p:spPr>
          <a:xfrm>
            <a:off x="640080" y="514807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2" name="TextBox 11"/>
          <p:cNvSpPr txBox="1"/>
          <p:nvPr/>
        </p:nvSpPr>
        <p:spPr>
          <a:xfrm>
            <a:off x="1005840" y="5166360"/>
            <a:ext cx="5029200" cy="1005840"/>
          </a:xfrm>
          <a:prstGeom prst="rect">
            <a:avLst/>
          </a:prstGeom>
          <a:noFill/>
        </p:spPr>
        <p:txBody>
          <a:bodyPr wrap="square" anchor="t" lIns="0" rIns="0" tIns="0" bIns="0">
            <a:spAutoFit/>
          </a:bodyPr>
          <a:lstStyle/>
          <a:p>
            <a:pPr algn="l">
              <a:lnSpc>
                <a:spcPct val="115000"/>
              </a:lnSpc>
            </a:pPr>
            <a:r>
              <a:rPr sz="1500" b="1">
                <a:solidFill>
                  <a:srgbClr val="EEF2EA"/>
                </a:solidFill>
                <a:latin typeface="Calibri"/>
              </a:rPr>
              <a:t>Ask it anything. </a:t>
            </a:r>
            <a:r>
              <a:rPr sz="1300" b="0">
                <a:solidFill>
                  <a:srgbClr val="9DB3A4"/>
                </a:solidFill>
                <a:latin typeface="Calibri"/>
              </a:rPr>
              <a:t>An embedded assistant answers from this document's approved content — and every tap is measured.</a:t>
            </a:r>
          </a:p>
        </p:txBody>
      </p:sp>
      <p:pic>
        <p:nvPicPr>
          <p:cNvPr id="13" name="Picture 12" descr="viewer-doc.jpg"/>
          <p:cNvPicPr>
            <a:picLocks noChangeAspect="1"/>
          </p:cNvPicPr>
          <p:nvPr/>
        </p:nvPicPr>
        <p:blipFill>
          <a:blip r:embed="rId2"/>
          <a:stretch>
            <a:fillRect/>
          </a:stretch>
        </p:blipFill>
        <p:spPr>
          <a:xfrm>
            <a:off x="6903720" y="1691640"/>
            <a:ext cx="5074002" cy="4297680"/>
          </a:xfrm>
          <a:prstGeom prst="rect">
            <a:avLst/>
          </a:prstGeom>
          <a:ln w="12700">
            <a:solidFill>
              <a:srgbClr val="2A4033"/>
            </a:solidFill>
          </a:ln>
        </p:spPr>
      </p:pic>
      <p:sp>
        <p:nvSpPr>
          <p:cNvPr id="14" name="TextBox 13"/>
          <p:cNvSpPr txBox="1"/>
          <p:nvPr/>
        </p:nvSpPr>
        <p:spPr>
          <a:xfrm>
            <a:off x="6903720" y="6099048"/>
            <a:ext cx="4846320" cy="320040"/>
          </a:xfrm>
          <a:prstGeom prst="rect">
            <a:avLst/>
          </a:prstGeom>
          <a:noFill/>
        </p:spPr>
        <p:txBody>
          <a:bodyPr wrap="square" anchor="t" lIns="0" rIns="0" tIns="0" bIns="0">
            <a:spAutoFit/>
          </a:bodyPr>
          <a:lstStyle/>
          <a:p>
            <a:pPr algn="l">
              <a:lnSpc>
                <a:spcPct val="100000"/>
              </a:lnSpc>
            </a:pPr>
            <a:r>
              <a:rPr sz="850" b="0" spc="140">
                <a:solidFill>
                  <a:srgbClr val="D8A24A"/>
                </a:solidFill>
                <a:latin typeface="Consolas"/>
              </a:rPr>
              <a:t>LIVE VIEWER · A REAL INTERACTIVE STATEMENT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07</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PRODUCT — AI, GOVERNED</a:t>
            </a:r>
          </a:p>
        </p:txBody>
      </p:sp>
      <p:sp>
        <p:nvSpPr>
          <p:cNvPr id="6" name="TextBox 5"/>
          <p:cNvSpPr txBox="1"/>
          <p:nvPr/>
        </p:nvSpPr>
        <p:spPr>
          <a:xfrm>
            <a:off x="640080" y="1828800"/>
            <a:ext cx="5852160" cy="1645920"/>
          </a:xfrm>
          <a:prstGeom prst="rect">
            <a:avLst/>
          </a:prstGeom>
          <a:noFill/>
        </p:spPr>
        <p:txBody>
          <a:bodyPr wrap="square" anchor="t" lIns="0" rIns="0" tIns="0" bIns="0">
            <a:spAutoFit/>
          </a:bodyPr>
          <a:lstStyle/>
          <a:p>
            <a:pPr algn="l">
              <a:lnSpc>
                <a:spcPct val="102000"/>
              </a:lnSpc>
            </a:pPr>
            <a:r>
              <a:rPr sz="2900" b="1">
                <a:solidFill>
                  <a:srgbClr val="EEF2EA"/>
                </a:solidFill>
                <a:latin typeface="Georgia"/>
              </a:rPr>
              <a:t>AI that leaves fingerprints, receipts, and an </a:t>
            </a:r>
            <a:r>
              <a:rPr sz="2900" b="1">
                <a:solidFill>
                  <a:srgbClr val="D8A24A"/>
                </a:solidFill>
                <a:latin typeface="Georgia"/>
              </a:rPr>
              <a:t>audit trail.</a:t>
            </a:r>
          </a:p>
        </p:txBody>
      </p:sp>
      <p:sp>
        <p:nvSpPr>
          <p:cNvPr id="7" name="TextBox 6"/>
          <p:cNvSpPr txBox="1"/>
          <p:nvPr/>
        </p:nvSpPr>
        <p:spPr>
          <a:xfrm>
            <a:off x="640080" y="295351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8" name="TextBox 7"/>
          <p:cNvSpPr txBox="1"/>
          <p:nvPr/>
        </p:nvSpPr>
        <p:spPr>
          <a:xfrm>
            <a:off x="1005840" y="2971800"/>
            <a:ext cx="512064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Grounded. </a:t>
            </a:r>
            <a:r>
              <a:rPr sz="1250" b="0">
                <a:solidFill>
                  <a:srgbClr val="9DB3A4"/>
                </a:solidFill>
                <a:latin typeface="Calibri"/>
              </a:rPr>
              <a:t>Answers only from the document and approved knowledge — cites its sources every time.</a:t>
            </a:r>
          </a:p>
        </p:txBody>
      </p:sp>
      <p:sp>
        <p:nvSpPr>
          <p:cNvPr id="9" name="TextBox 8"/>
          <p:cNvSpPr txBox="1"/>
          <p:nvPr/>
        </p:nvSpPr>
        <p:spPr>
          <a:xfrm>
            <a:off x="640080" y="3794760"/>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0" name="TextBox 9"/>
          <p:cNvSpPr txBox="1"/>
          <p:nvPr/>
        </p:nvSpPr>
        <p:spPr>
          <a:xfrm>
            <a:off x="1005840" y="3813048"/>
            <a:ext cx="512064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Never guesses. </a:t>
            </a:r>
            <a:r>
              <a:rPr sz="1250" b="0">
                <a:solidFill>
                  <a:srgbClr val="9DB3A4"/>
                </a:solidFill>
                <a:latin typeface="Calibri"/>
              </a:rPr>
              <a:t>Unsure? It says so and routes to a human — no hallucinated legal language.</a:t>
            </a:r>
          </a:p>
        </p:txBody>
      </p:sp>
      <p:sp>
        <p:nvSpPr>
          <p:cNvPr id="11" name="TextBox 10"/>
          <p:cNvSpPr txBox="1"/>
          <p:nvPr/>
        </p:nvSpPr>
        <p:spPr>
          <a:xfrm>
            <a:off x="640080" y="4636008"/>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2" name="TextBox 11"/>
          <p:cNvSpPr txBox="1"/>
          <p:nvPr/>
        </p:nvSpPr>
        <p:spPr>
          <a:xfrm>
            <a:off x="1005840" y="4654296"/>
            <a:ext cx="512064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Every action logged. </a:t>
            </a:r>
            <a:r>
              <a:rPr sz="1250" b="0">
                <a:solidFill>
                  <a:srgbClr val="9DB3A4"/>
                </a:solidFill>
                <a:latin typeface="Calibri"/>
              </a:rPr>
              <a:t>Prompts, models, citations and confidence — to a tamper-evident audit trail.</a:t>
            </a:r>
          </a:p>
        </p:txBody>
      </p:sp>
      <p:sp>
        <p:nvSpPr>
          <p:cNvPr id="13" name="TextBox 12"/>
          <p:cNvSpPr txBox="1"/>
          <p:nvPr/>
        </p:nvSpPr>
        <p:spPr>
          <a:xfrm>
            <a:off x="640080" y="5477256"/>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4" name="TextBox 13"/>
          <p:cNvSpPr txBox="1"/>
          <p:nvPr/>
        </p:nvSpPr>
        <p:spPr>
          <a:xfrm>
            <a:off x="1005840" y="5495544"/>
            <a:ext cx="512064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Your data stays yours. </a:t>
            </a:r>
            <a:r>
              <a:rPr sz="1250" b="0">
                <a:solidFill>
                  <a:srgbClr val="9DB3A4"/>
                </a:solidFill>
                <a:latin typeface="Calibri"/>
              </a:rPr>
              <a:t>Bring your own model; no tenant data trains models by default.</a:t>
            </a:r>
          </a:p>
        </p:txBody>
      </p:sp>
      <p:pic>
        <p:nvPicPr>
          <p:cNvPr id="15" name="Picture 14" descr="viewer-assistant.jpg"/>
          <p:cNvPicPr>
            <a:picLocks noChangeAspect="1"/>
          </p:cNvPicPr>
          <p:nvPr/>
        </p:nvPicPr>
        <p:blipFill>
          <a:blip r:embed="rId2"/>
          <a:stretch>
            <a:fillRect/>
          </a:stretch>
        </p:blipFill>
        <p:spPr>
          <a:xfrm>
            <a:off x="8138160" y="1645920"/>
            <a:ext cx="2637239" cy="4389120"/>
          </a:xfrm>
          <a:prstGeom prst="rect">
            <a:avLst/>
          </a:prstGeom>
          <a:ln w="12700">
            <a:solidFill>
              <a:srgbClr val="2A4033"/>
            </a:solidFill>
          </a:ln>
        </p:spPr>
      </p:pic>
      <p:sp>
        <p:nvSpPr>
          <p:cNvPr id="16" name="TextBox 15"/>
          <p:cNvSpPr txBox="1"/>
          <p:nvPr/>
        </p:nvSpPr>
        <p:spPr>
          <a:xfrm>
            <a:off x="6675120" y="6144768"/>
            <a:ext cx="5303520" cy="320040"/>
          </a:xfrm>
          <a:prstGeom prst="rect">
            <a:avLst/>
          </a:prstGeom>
          <a:noFill/>
        </p:spPr>
        <p:txBody>
          <a:bodyPr wrap="square" anchor="t" lIns="0" rIns="0" tIns="0" bIns="0">
            <a:spAutoFit/>
          </a:bodyPr>
          <a:lstStyle/>
          <a:p>
            <a:pPr algn="r">
              <a:lnSpc>
                <a:spcPct val="100000"/>
              </a:lnSpc>
            </a:pPr>
            <a:r>
              <a:rPr sz="850" b="0" spc="140">
                <a:solidFill>
                  <a:srgbClr val="D8A24A"/>
                </a:solidFill>
                <a:latin typeface="Consolas"/>
              </a:rPr>
              <a:t>GROUNDED ANSWER · CITED SOURCES · PROVENANCE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08</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PRODUCT — AUTHOR &amp; CONTROL</a:t>
            </a:r>
          </a:p>
        </p:txBody>
      </p:sp>
      <p:sp>
        <p:nvSpPr>
          <p:cNvPr id="6" name="TextBox 5"/>
          <p:cNvSpPr txBox="1"/>
          <p:nvPr/>
        </p:nvSpPr>
        <p:spPr>
          <a:xfrm>
            <a:off x="640080" y="1828800"/>
            <a:ext cx="5669280" cy="1645920"/>
          </a:xfrm>
          <a:prstGeom prst="rect">
            <a:avLst/>
          </a:prstGeom>
          <a:noFill/>
        </p:spPr>
        <p:txBody>
          <a:bodyPr wrap="square" anchor="t" lIns="0" rIns="0" tIns="0" bIns="0">
            <a:spAutoFit/>
          </a:bodyPr>
          <a:lstStyle/>
          <a:p>
            <a:pPr algn="l">
              <a:lnSpc>
                <a:spcPct val="102000"/>
              </a:lnSpc>
            </a:pPr>
            <a:r>
              <a:rPr sz="2700" b="1">
                <a:solidFill>
                  <a:srgbClr val="EEF2EA"/>
                </a:solidFill>
                <a:latin typeface="Georgia"/>
              </a:rPr>
              <a:t>Business teams author. Governance is </a:t>
            </a:r>
            <a:r>
              <a:rPr sz="2700" b="1">
                <a:solidFill>
                  <a:srgbClr val="D8A24A"/>
                </a:solidFill>
                <a:latin typeface="Georgia"/>
              </a:rPr>
              <a:t>enforced, not hoped for.</a:t>
            </a:r>
          </a:p>
        </p:txBody>
      </p:sp>
      <p:sp>
        <p:nvSpPr>
          <p:cNvPr id="7" name="TextBox 6"/>
          <p:cNvSpPr txBox="1"/>
          <p:nvPr/>
        </p:nvSpPr>
        <p:spPr>
          <a:xfrm>
            <a:off x="640080" y="299923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8" name="TextBox 7"/>
          <p:cNvSpPr txBox="1"/>
          <p:nvPr/>
        </p:nvSpPr>
        <p:spPr>
          <a:xfrm>
            <a:off x="1005840" y="3017520"/>
            <a:ext cx="502920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Author without a ticket. </a:t>
            </a:r>
            <a:r>
              <a:rPr sz="1250" b="0">
                <a:solidFill>
                  <a:srgbClr val="9DB3A4"/>
                </a:solidFill>
                <a:latin typeface="Calibri"/>
              </a:rPr>
              <a:t>Drag-and-drop designer with an AI assistant that drafts copy — a human always approves.</a:t>
            </a:r>
          </a:p>
        </p:txBody>
      </p:sp>
      <p:sp>
        <p:nvSpPr>
          <p:cNvPr id="9" name="TextBox 8"/>
          <p:cNvSpPr txBox="1"/>
          <p:nvPr/>
        </p:nvSpPr>
        <p:spPr>
          <a:xfrm>
            <a:off x="640080" y="3840480"/>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0" name="TextBox 9"/>
          <p:cNvSpPr txBox="1"/>
          <p:nvPr/>
        </p:nvSpPr>
        <p:spPr>
          <a:xfrm>
            <a:off x="1005840" y="3858768"/>
            <a:ext cx="502920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Segregation of duties. </a:t>
            </a:r>
            <a:r>
              <a:rPr sz="1250" b="0">
                <a:solidFill>
                  <a:srgbClr val="9DB3A4"/>
                </a:solidFill>
                <a:latin typeface="Calibri"/>
              </a:rPr>
              <a:t>The author can't approve their own work; compliance and legal sign off before anything ships.</a:t>
            </a:r>
          </a:p>
        </p:txBody>
      </p:sp>
      <p:sp>
        <p:nvSpPr>
          <p:cNvPr id="11" name="TextBox 10"/>
          <p:cNvSpPr txBox="1"/>
          <p:nvPr/>
        </p:nvSpPr>
        <p:spPr>
          <a:xfrm>
            <a:off x="640080" y="4681728"/>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2" name="TextBox 11"/>
          <p:cNvSpPr txBox="1"/>
          <p:nvPr/>
        </p:nvSpPr>
        <p:spPr>
          <a:xfrm>
            <a:off x="1005840" y="4700016"/>
            <a:ext cx="502920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Accessibility gate. </a:t>
            </a:r>
            <a:r>
              <a:rPr sz="1250" b="0">
                <a:solidFill>
                  <a:srgbClr val="9DB3A4"/>
                </a:solidFill>
                <a:latin typeface="Calibri"/>
              </a:rPr>
              <a:t>A communication that fails WCAG can't be published — the system enforces it, not a policy PDF.</a:t>
            </a:r>
          </a:p>
        </p:txBody>
      </p:sp>
      <p:sp>
        <p:nvSpPr>
          <p:cNvPr id="13" name="TextBox 12"/>
          <p:cNvSpPr txBox="1"/>
          <p:nvPr/>
        </p:nvSpPr>
        <p:spPr>
          <a:xfrm>
            <a:off x="640080" y="5522976"/>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4" name="TextBox 13"/>
          <p:cNvSpPr txBox="1"/>
          <p:nvPr/>
        </p:nvSpPr>
        <p:spPr>
          <a:xfrm>
            <a:off x="1005840" y="5541264"/>
            <a:ext cx="5029200" cy="914400"/>
          </a:xfrm>
          <a:prstGeom prst="rect">
            <a:avLst/>
          </a:prstGeom>
          <a:noFill/>
        </p:spPr>
        <p:txBody>
          <a:bodyPr wrap="square" anchor="t" lIns="0" rIns="0" tIns="0" bIns="0">
            <a:spAutoFit/>
          </a:bodyPr>
          <a:lstStyle/>
          <a:p>
            <a:pPr algn="l">
              <a:lnSpc>
                <a:spcPct val="112000"/>
              </a:lnSpc>
            </a:pPr>
            <a:r>
              <a:rPr sz="1450" b="1">
                <a:solidFill>
                  <a:srgbClr val="EEF2EA"/>
                </a:solidFill>
                <a:latin typeface="Calibri"/>
              </a:rPr>
              <a:t>Every change versioned. </a:t>
            </a:r>
            <a:r>
              <a:rPr sz="1250" b="0">
                <a:solidFill>
                  <a:srgbClr val="9DB3A4"/>
                </a:solidFill>
                <a:latin typeface="Calibri"/>
              </a:rPr>
              <a:t>Comparable, reversible, with a record of who changed what and when.</a:t>
            </a:r>
          </a:p>
        </p:txBody>
      </p:sp>
      <p:pic>
        <p:nvPicPr>
          <p:cNvPr id="15" name="Picture 14" descr="designer.jpg"/>
          <p:cNvPicPr>
            <a:picLocks noChangeAspect="1"/>
          </p:cNvPicPr>
          <p:nvPr/>
        </p:nvPicPr>
        <p:blipFill>
          <a:blip r:embed="rId2"/>
          <a:stretch>
            <a:fillRect/>
          </a:stretch>
        </p:blipFill>
        <p:spPr>
          <a:xfrm>
            <a:off x="6446520" y="2331720"/>
            <a:ext cx="5486400" cy="3383280"/>
          </a:xfrm>
          <a:prstGeom prst="rect">
            <a:avLst/>
          </a:prstGeom>
          <a:ln w="12700">
            <a:solidFill>
              <a:srgbClr val="2A4033"/>
            </a:solidFill>
          </a:ln>
        </p:spPr>
      </p:pic>
      <p:sp>
        <p:nvSpPr>
          <p:cNvPr id="16" name="TextBox 15"/>
          <p:cNvSpPr txBox="1"/>
          <p:nvPr/>
        </p:nvSpPr>
        <p:spPr>
          <a:xfrm>
            <a:off x="6446520" y="5823938"/>
            <a:ext cx="5486400" cy="320040"/>
          </a:xfrm>
          <a:prstGeom prst="rect">
            <a:avLst/>
          </a:prstGeom>
          <a:noFill/>
        </p:spPr>
        <p:txBody>
          <a:bodyPr wrap="square" anchor="t" lIns="0" rIns="0" tIns="0" bIns="0">
            <a:spAutoFit/>
          </a:bodyPr>
          <a:lstStyle/>
          <a:p>
            <a:pPr algn="l">
              <a:lnSpc>
                <a:spcPct val="100000"/>
              </a:lnSpc>
            </a:pPr>
            <a:r>
              <a:rPr sz="850" b="0" spc="140">
                <a:solidFill>
                  <a:srgbClr val="D8A24A"/>
                </a:solidFill>
                <a:latin typeface="Consolas"/>
              </a:rPr>
              <a:t>TEMPLATE DESIGNER · BLOCKS, DATA CONTRACT, INTENDED OUTCOME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09</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MEASURE WHAT MATTERS</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2900" b="1">
                <a:solidFill>
                  <a:srgbClr val="EEF2EA"/>
                </a:solidFill>
                <a:latin typeface="Georgia"/>
              </a:rPr>
              <a:t>Every template declares an outcome. Every dashboard </a:t>
            </a:r>
            <a:r>
              <a:rPr sz="2900" b="1">
                <a:solidFill>
                  <a:srgbClr val="D8A24A"/>
                </a:solidFill>
                <a:latin typeface="Georgia"/>
              </a:rPr>
              <a:t>measures it.</a:t>
            </a:r>
          </a:p>
        </p:txBody>
      </p:sp>
      <p:sp>
        <p:nvSpPr>
          <p:cNvPr id="7" name="Rounded Rectangle 6"/>
          <p:cNvSpPr/>
          <p:nvPr/>
        </p:nvSpPr>
        <p:spPr>
          <a:xfrm>
            <a:off x="640080" y="3017520"/>
            <a:ext cx="1435608"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136391"/>
            <a:ext cx="1435608"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Understood</a:t>
            </a:r>
          </a:p>
        </p:txBody>
      </p:sp>
      <p:sp>
        <p:nvSpPr>
          <p:cNvPr id="9" name="Rounded Rectangle 8"/>
          <p:cNvSpPr/>
          <p:nvPr/>
        </p:nvSpPr>
        <p:spPr>
          <a:xfrm>
            <a:off x="2276856" y="3017520"/>
            <a:ext cx="804672"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76856" y="3136391"/>
            <a:ext cx="804672"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Paid</a:t>
            </a:r>
          </a:p>
        </p:txBody>
      </p:sp>
      <p:sp>
        <p:nvSpPr>
          <p:cNvPr id="11" name="Rounded Rectangle 10"/>
          <p:cNvSpPr/>
          <p:nvPr/>
        </p:nvSpPr>
        <p:spPr>
          <a:xfrm>
            <a:off x="3282696" y="3017520"/>
            <a:ext cx="1120140"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82696" y="3136391"/>
            <a:ext cx="1120140"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Renewed</a:t>
            </a:r>
          </a:p>
        </p:txBody>
      </p:sp>
      <p:sp>
        <p:nvSpPr>
          <p:cNvPr id="13" name="Rounded Rectangle 12"/>
          <p:cNvSpPr/>
          <p:nvPr/>
        </p:nvSpPr>
        <p:spPr>
          <a:xfrm>
            <a:off x="4604004" y="3017520"/>
            <a:ext cx="2382012"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4004" y="3136391"/>
            <a:ext cx="2382012"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Disputed &amp; resolved</a:t>
            </a:r>
          </a:p>
        </p:txBody>
      </p:sp>
      <p:sp>
        <p:nvSpPr>
          <p:cNvPr id="15" name="Rounded Rectangle 14"/>
          <p:cNvSpPr/>
          <p:nvPr/>
        </p:nvSpPr>
        <p:spPr>
          <a:xfrm>
            <a:off x="7187184" y="3017520"/>
            <a:ext cx="1014984"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87184" y="3136391"/>
            <a:ext cx="1014984"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Signed</a:t>
            </a:r>
          </a:p>
        </p:txBody>
      </p:sp>
      <p:sp>
        <p:nvSpPr>
          <p:cNvPr id="17" name="Rounded Rectangle 16"/>
          <p:cNvSpPr/>
          <p:nvPr/>
        </p:nvSpPr>
        <p:spPr>
          <a:xfrm>
            <a:off x="8403336" y="3017520"/>
            <a:ext cx="1540764"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3336" y="3136391"/>
            <a:ext cx="1540764"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Self-served</a:t>
            </a:r>
          </a:p>
        </p:txBody>
      </p:sp>
      <p:sp>
        <p:nvSpPr>
          <p:cNvPr id="19" name="Rounded Rectangle 18"/>
          <p:cNvSpPr/>
          <p:nvPr/>
        </p:nvSpPr>
        <p:spPr>
          <a:xfrm>
            <a:off x="10145268" y="3017520"/>
            <a:ext cx="1645920" cy="502920"/>
          </a:xfrm>
          <a:prstGeom prst="roundRect">
            <a:avLst>
              <a:gd name="adj" fmla="val 5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5268" y="3136391"/>
            <a:ext cx="1645920"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Call avoided</a:t>
            </a:r>
          </a:p>
        </p:txBody>
      </p:sp>
      <p:sp>
        <p:nvSpPr>
          <p:cNvPr id="21" name="Rounded Rectangle 20"/>
          <p:cNvSpPr/>
          <p:nvPr/>
        </p:nvSpPr>
        <p:spPr>
          <a:xfrm>
            <a:off x="640080" y="3931920"/>
            <a:ext cx="3520440" cy="141732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33087"/>
            <a:ext cx="2971800" cy="640080"/>
          </a:xfrm>
          <a:prstGeom prst="rect">
            <a:avLst/>
          </a:prstGeom>
          <a:noFill/>
        </p:spPr>
        <p:txBody>
          <a:bodyPr wrap="square" anchor="t" lIns="0" rIns="0" tIns="0" bIns="0">
            <a:spAutoFit/>
          </a:bodyPr>
          <a:lstStyle/>
          <a:p>
            <a:pPr algn="l">
              <a:lnSpc>
                <a:spcPct val="100000"/>
              </a:lnSpc>
            </a:pPr>
            <a:r>
              <a:rPr sz="3600" b="1">
                <a:solidFill>
                  <a:srgbClr val="D8A24A"/>
                </a:solidFill>
                <a:latin typeface="Georgia"/>
              </a:rPr>
              <a:t>1</a:t>
            </a:r>
          </a:p>
        </p:txBody>
      </p:sp>
      <p:sp>
        <p:nvSpPr>
          <p:cNvPr id="23" name="TextBox 22"/>
          <p:cNvSpPr txBox="1"/>
          <p:nvPr/>
        </p:nvSpPr>
        <p:spPr>
          <a:xfrm>
            <a:off x="914400" y="4846320"/>
            <a:ext cx="2971800" cy="365760"/>
          </a:xfrm>
          <a:prstGeom prst="rect">
            <a:avLst/>
          </a:prstGeom>
          <a:noFill/>
        </p:spPr>
        <p:txBody>
          <a:bodyPr wrap="square" anchor="t" lIns="0" rIns="0" tIns="0" bIns="0">
            <a:spAutoFit/>
          </a:bodyPr>
          <a:lstStyle/>
          <a:p>
            <a:pPr algn="l">
              <a:lnSpc>
                <a:spcPct val="100000"/>
              </a:lnSpc>
            </a:pPr>
            <a:r>
              <a:rPr sz="1000" b="0" spc="140">
                <a:solidFill>
                  <a:srgbClr val="9DB3A4"/>
                </a:solidFill>
                <a:latin typeface="Consolas"/>
              </a:rPr>
              <a:t>OUTCOME PER TEMPLATE</a:t>
            </a:r>
          </a:p>
        </p:txBody>
      </p:sp>
      <p:sp>
        <p:nvSpPr>
          <p:cNvPr id="24" name="Rounded Rectangle 23"/>
          <p:cNvSpPr/>
          <p:nvPr/>
        </p:nvSpPr>
        <p:spPr>
          <a:xfrm>
            <a:off x="4416552" y="3931920"/>
            <a:ext cx="3520440" cy="141732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90872" y="4133087"/>
            <a:ext cx="2971800" cy="640080"/>
          </a:xfrm>
          <a:prstGeom prst="rect">
            <a:avLst/>
          </a:prstGeom>
          <a:noFill/>
        </p:spPr>
        <p:txBody>
          <a:bodyPr wrap="square" anchor="t" lIns="0" rIns="0" tIns="0" bIns="0">
            <a:spAutoFit/>
          </a:bodyPr>
          <a:lstStyle/>
          <a:p>
            <a:pPr algn="l">
              <a:lnSpc>
                <a:spcPct val="100000"/>
              </a:lnSpc>
            </a:pPr>
            <a:r>
              <a:rPr sz="3600" b="1">
                <a:solidFill>
                  <a:srgbClr val="D8A24A"/>
                </a:solidFill>
                <a:latin typeface="Georgia"/>
              </a:rPr>
              <a:t>100%</a:t>
            </a:r>
          </a:p>
        </p:txBody>
      </p:sp>
      <p:sp>
        <p:nvSpPr>
          <p:cNvPr id="26" name="TextBox 25"/>
          <p:cNvSpPr txBox="1"/>
          <p:nvPr/>
        </p:nvSpPr>
        <p:spPr>
          <a:xfrm>
            <a:off x="4690872" y="4846320"/>
            <a:ext cx="2971800" cy="365760"/>
          </a:xfrm>
          <a:prstGeom prst="rect">
            <a:avLst/>
          </a:prstGeom>
          <a:noFill/>
        </p:spPr>
        <p:txBody>
          <a:bodyPr wrap="square" anchor="t" lIns="0" rIns="0" tIns="0" bIns="0">
            <a:spAutoFit/>
          </a:bodyPr>
          <a:lstStyle/>
          <a:p>
            <a:pPr algn="l">
              <a:lnSpc>
                <a:spcPct val="100000"/>
              </a:lnSpc>
            </a:pPr>
            <a:r>
              <a:rPr sz="1000" b="0" spc="140">
                <a:solidFill>
                  <a:srgbClr val="9DB3A4"/>
                </a:solidFill>
                <a:latin typeface="Consolas"/>
              </a:rPr>
              <a:t>INTERACTIONS CAPTURED</a:t>
            </a:r>
          </a:p>
        </p:txBody>
      </p:sp>
      <p:sp>
        <p:nvSpPr>
          <p:cNvPr id="27" name="Rounded Rectangle 26"/>
          <p:cNvSpPr/>
          <p:nvPr/>
        </p:nvSpPr>
        <p:spPr>
          <a:xfrm>
            <a:off x="8193023" y="3931920"/>
            <a:ext cx="3520440" cy="141732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67344" y="4133087"/>
            <a:ext cx="2971800" cy="640080"/>
          </a:xfrm>
          <a:prstGeom prst="rect">
            <a:avLst/>
          </a:prstGeom>
          <a:noFill/>
        </p:spPr>
        <p:txBody>
          <a:bodyPr wrap="square" anchor="t" lIns="0" rIns="0" tIns="0" bIns="0">
            <a:spAutoFit/>
          </a:bodyPr>
          <a:lstStyle/>
          <a:p>
            <a:pPr algn="l">
              <a:lnSpc>
                <a:spcPct val="100000"/>
              </a:lnSpc>
            </a:pPr>
            <a:r>
              <a:rPr sz="3600" b="1">
                <a:solidFill>
                  <a:srgbClr val="D8A24A"/>
                </a:solidFill>
                <a:latin typeface="Georgia"/>
              </a:rPr>
              <a:t>∞</a:t>
            </a:r>
          </a:p>
        </p:txBody>
      </p:sp>
      <p:sp>
        <p:nvSpPr>
          <p:cNvPr id="29" name="TextBox 28"/>
          <p:cNvSpPr txBox="1"/>
          <p:nvPr/>
        </p:nvSpPr>
        <p:spPr>
          <a:xfrm>
            <a:off x="8467344" y="4846320"/>
            <a:ext cx="2971800" cy="365760"/>
          </a:xfrm>
          <a:prstGeom prst="rect">
            <a:avLst/>
          </a:prstGeom>
          <a:noFill/>
        </p:spPr>
        <p:txBody>
          <a:bodyPr wrap="square" anchor="t" lIns="0" rIns="0" tIns="0" bIns="0">
            <a:spAutoFit/>
          </a:bodyPr>
          <a:lstStyle/>
          <a:p>
            <a:pPr algn="l">
              <a:lnSpc>
                <a:spcPct val="100000"/>
              </a:lnSpc>
            </a:pPr>
            <a:r>
              <a:rPr sz="1000" b="0" spc="140">
                <a:solidFill>
                  <a:srgbClr val="9DB3A4"/>
                </a:solidFill>
                <a:latin typeface="Consolas"/>
              </a:rPr>
              <a:t>CHANNELS, ONE MEASURE</a:t>
            </a:r>
          </a:p>
        </p:txBody>
      </p:sp>
      <p:sp>
        <p:nvSpPr>
          <p:cNvPr id="30" name="TextBox 29"/>
          <p:cNvSpPr txBox="1"/>
          <p:nvPr/>
        </p:nvSpPr>
        <p:spPr>
          <a:xfrm>
            <a:off x="640080" y="5577840"/>
            <a:ext cx="10881360" cy="457200"/>
          </a:xfrm>
          <a:prstGeom prst="rect">
            <a:avLst/>
          </a:prstGeom>
          <a:noFill/>
        </p:spPr>
        <p:txBody>
          <a:bodyPr wrap="square" anchor="t" lIns="0" rIns="0" tIns="0" bIns="0">
            <a:spAutoFit/>
          </a:bodyPr>
          <a:lstStyle/>
          <a:p>
            <a:pPr algn="l">
              <a:lnSpc>
                <a:spcPct val="100000"/>
              </a:lnSpc>
            </a:pPr>
            <a:r>
              <a:rPr sz="1300" b="0">
                <a:solidFill>
                  <a:srgbClr val="9DB3A4"/>
                </a:solidFill>
                <a:latin typeface="Calibri"/>
              </a:rPr>
              <a:t>Report </a:t>
            </a:r>
            <a:r>
              <a:rPr sz="1300" b="1">
                <a:solidFill>
                  <a:srgbClr val="EEF2EA"/>
                </a:solidFill>
                <a:latin typeface="Calibri"/>
              </a:rPr>
              <a:t>payment lift</a:t>
            </a:r>
            <a:r>
              <a:rPr sz="1300" b="0">
                <a:solidFill>
                  <a:srgbClr val="9DB3A4"/>
                </a:solidFill>
                <a:latin typeface="Calibri"/>
              </a:rPr>
              <a:t> and </a:t>
            </a:r>
            <a:r>
              <a:rPr sz="1300" b="1">
                <a:solidFill>
                  <a:srgbClr val="EEF2EA"/>
                </a:solidFill>
                <a:latin typeface="Calibri"/>
              </a:rPr>
              <a:t>call deflection</a:t>
            </a:r>
            <a:r>
              <a:rPr sz="1300" b="0">
                <a:solidFill>
                  <a:srgbClr val="9DB3A4"/>
                </a:solidFill>
                <a:latin typeface="Calibri"/>
              </a:rPr>
              <a:t> — not pages produced.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10</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WHY ACORN OS WINS</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3200" b="1">
                <a:solidFill>
                  <a:srgbClr val="EEF2EA"/>
                </a:solidFill>
                <a:latin typeface="Georgia"/>
              </a:rPr>
              <a:t>Built AI-native. Not </a:t>
            </a:r>
            <a:r>
              <a:rPr sz="3200" b="1">
                <a:solidFill>
                  <a:srgbClr val="D8A24A"/>
                </a:solidFill>
                <a:latin typeface="Georgia"/>
              </a:rPr>
              <a:t>retrofitted.</a:t>
            </a:r>
          </a:p>
        </p:txBody>
      </p:sp>
      <p:sp>
        <p:nvSpPr>
          <p:cNvPr id="7" name="Rectangle 6"/>
          <p:cNvSpPr/>
          <p:nvPr/>
        </p:nvSpPr>
        <p:spPr>
          <a:xfrm>
            <a:off x="640080" y="2743200"/>
            <a:ext cx="10881360"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889504"/>
            <a:ext cx="2743200" cy="365760"/>
          </a:xfrm>
          <a:prstGeom prst="rect">
            <a:avLst/>
          </a:prstGeom>
          <a:noFill/>
        </p:spPr>
        <p:txBody>
          <a:bodyPr wrap="square" anchor="t" lIns="0" rIns="0" tIns="0" bIns="0">
            <a:spAutoFit/>
          </a:bodyPr>
          <a:lstStyle/>
          <a:p>
            <a:pPr algn="l">
              <a:lnSpc>
                <a:spcPct val="100000"/>
              </a:lnSpc>
            </a:pPr>
            <a:r>
              <a:rPr sz="1100" b="1" spc="140">
                <a:solidFill>
                  <a:srgbClr val="D8A24A"/>
                </a:solidFill>
                <a:latin typeface="Consolas"/>
              </a:rPr>
              <a:t>Capability</a:t>
            </a:r>
          </a:p>
        </p:txBody>
      </p:sp>
      <p:sp>
        <p:nvSpPr>
          <p:cNvPr id="9" name="TextBox 8"/>
          <p:cNvSpPr txBox="1"/>
          <p:nvPr/>
        </p:nvSpPr>
        <p:spPr>
          <a:xfrm>
            <a:off x="3703320" y="2889504"/>
            <a:ext cx="3749039" cy="365760"/>
          </a:xfrm>
          <a:prstGeom prst="rect">
            <a:avLst/>
          </a:prstGeom>
          <a:noFill/>
        </p:spPr>
        <p:txBody>
          <a:bodyPr wrap="square" anchor="t" lIns="0" rIns="0" tIns="0" bIns="0">
            <a:spAutoFit/>
          </a:bodyPr>
          <a:lstStyle/>
          <a:p>
            <a:pPr algn="l">
              <a:lnSpc>
                <a:spcPct val="100000"/>
              </a:lnSpc>
            </a:pPr>
            <a:r>
              <a:rPr sz="1100" b="0" spc="140">
                <a:solidFill>
                  <a:srgbClr val="D8A24A"/>
                </a:solidFill>
                <a:latin typeface="Consolas"/>
              </a:rPr>
              <a:t>Legacy CCM suites</a:t>
            </a:r>
          </a:p>
        </p:txBody>
      </p:sp>
      <p:sp>
        <p:nvSpPr>
          <p:cNvPr id="10" name="TextBox 9"/>
          <p:cNvSpPr txBox="1"/>
          <p:nvPr/>
        </p:nvSpPr>
        <p:spPr>
          <a:xfrm>
            <a:off x="7680959" y="2889504"/>
            <a:ext cx="3703320" cy="365760"/>
          </a:xfrm>
          <a:prstGeom prst="rect">
            <a:avLst/>
          </a:prstGeom>
          <a:noFill/>
        </p:spPr>
        <p:txBody>
          <a:bodyPr wrap="square" anchor="t" lIns="0" rIns="0" tIns="0" bIns="0">
            <a:spAutoFit/>
          </a:bodyPr>
          <a:lstStyle/>
          <a:p>
            <a:pPr algn="l">
              <a:lnSpc>
                <a:spcPct val="100000"/>
              </a:lnSpc>
            </a:pPr>
            <a:r>
              <a:rPr sz="1100" b="0" spc="140">
                <a:solidFill>
                  <a:srgbClr val="D8A24A"/>
                </a:solidFill>
                <a:latin typeface="Consolas"/>
              </a:rPr>
              <a:t>Acorn OS</a:t>
            </a:r>
          </a:p>
        </p:txBody>
      </p:sp>
      <p:sp>
        <p:nvSpPr>
          <p:cNvPr id="11" name="Rounded Rectangle 10"/>
          <p:cNvSpPr/>
          <p:nvPr/>
        </p:nvSpPr>
        <p:spPr>
          <a:xfrm>
            <a:off x="7498079" y="3246120"/>
            <a:ext cx="4023360" cy="420624"/>
          </a:xfrm>
          <a:prstGeom prst="roundRect">
            <a:avLst>
              <a:gd name="adj" fmla="val 12000"/>
            </a:avLst>
          </a:prstGeom>
          <a:solidFill>
            <a:srgbClr val="162A20"/>
          </a:solidFill>
          <a:ln w="12700">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64992"/>
            <a:ext cx="274320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AI</a:t>
            </a:r>
          </a:p>
        </p:txBody>
      </p:sp>
      <p:sp>
        <p:nvSpPr>
          <p:cNvPr id="13" name="TextBox 12"/>
          <p:cNvSpPr txBox="1"/>
          <p:nvPr/>
        </p:nvSpPr>
        <p:spPr>
          <a:xfrm>
            <a:off x="3703320" y="3364992"/>
            <a:ext cx="3749039" cy="365760"/>
          </a:xfrm>
          <a:prstGeom prst="rect">
            <a:avLst/>
          </a:prstGeom>
          <a:noFill/>
        </p:spPr>
        <p:txBody>
          <a:bodyPr wrap="square" anchor="t" lIns="0" rIns="0" tIns="0" bIns="0">
            <a:spAutoFit/>
          </a:bodyPr>
          <a:lstStyle/>
          <a:p>
            <a:pPr algn="l">
              <a:lnSpc>
                <a:spcPct val="100000"/>
              </a:lnSpc>
            </a:pPr>
            <a:r>
              <a:rPr sz="1250" b="0">
                <a:solidFill>
                  <a:srgbClr val="9DB3A4"/>
                </a:solidFill>
                <a:latin typeface="Calibri"/>
              </a:rPr>
              <a:t>Bolted-on feature</a:t>
            </a:r>
          </a:p>
        </p:txBody>
      </p:sp>
      <p:sp>
        <p:nvSpPr>
          <p:cNvPr id="14" name="TextBox 13"/>
          <p:cNvSpPr txBox="1"/>
          <p:nvPr/>
        </p:nvSpPr>
        <p:spPr>
          <a:xfrm>
            <a:off x="7680959" y="3364992"/>
            <a:ext cx="370332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Native core, governed &amp; audited</a:t>
            </a:r>
          </a:p>
        </p:txBody>
      </p:sp>
      <p:sp>
        <p:nvSpPr>
          <p:cNvPr id="15" name="Rectangle 14"/>
          <p:cNvSpPr/>
          <p:nvPr/>
        </p:nvSpPr>
        <p:spPr>
          <a:xfrm>
            <a:off x="640080" y="3694176"/>
            <a:ext cx="6858000" cy="10972"/>
          </a:xfrm>
          <a:prstGeom prst="rect">
            <a:avLst/>
          </a:prstGeom>
          <a:solidFill>
            <a:srgbClr val="2A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98079" y="3721608"/>
            <a:ext cx="4023360" cy="420624"/>
          </a:xfrm>
          <a:prstGeom prst="roundRect">
            <a:avLst>
              <a:gd name="adj" fmla="val 12000"/>
            </a:avLst>
          </a:prstGeom>
          <a:solidFill>
            <a:srgbClr val="162A20"/>
          </a:solidFill>
          <a:ln w="12700">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840480"/>
            <a:ext cx="274320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The document</a:t>
            </a:r>
          </a:p>
        </p:txBody>
      </p:sp>
      <p:sp>
        <p:nvSpPr>
          <p:cNvPr id="18" name="TextBox 17"/>
          <p:cNvSpPr txBox="1"/>
          <p:nvPr/>
        </p:nvSpPr>
        <p:spPr>
          <a:xfrm>
            <a:off x="3703320" y="3840480"/>
            <a:ext cx="3749039" cy="365760"/>
          </a:xfrm>
          <a:prstGeom prst="rect">
            <a:avLst/>
          </a:prstGeom>
          <a:noFill/>
        </p:spPr>
        <p:txBody>
          <a:bodyPr wrap="square" anchor="t" lIns="0" rIns="0" tIns="0" bIns="0">
            <a:spAutoFit/>
          </a:bodyPr>
          <a:lstStyle/>
          <a:p>
            <a:pPr algn="l">
              <a:lnSpc>
                <a:spcPct val="100000"/>
              </a:lnSpc>
            </a:pPr>
            <a:r>
              <a:rPr sz="1250" b="0">
                <a:solidFill>
                  <a:srgbClr val="9DB3A4"/>
                </a:solidFill>
                <a:latin typeface="Calibri"/>
              </a:rPr>
              <a:t>Static output</a:t>
            </a:r>
          </a:p>
        </p:txBody>
      </p:sp>
      <p:sp>
        <p:nvSpPr>
          <p:cNvPr id="19" name="TextBox 18"/>
          <p:cNvSpPr txBox="1"/>
          <p:nvPr/>
        </p:nvSpPr>
        <p:spPr>
          <a:xfrm>
            <a:off x="7680959" y="3840480"/>
            <a:ext cx="370332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Interactive experience</a:t>
            </a:r>
          </a:p>
        </p:txBody>
      </p:sp>
      <p:sp>
        <p:nvSpPr>
          <p:cNvPr id="20" name="Rectangle 19"/>
          <p:cNvSpPr/>
          <p:nvPr/>
        </p:nvSpPr>
        <p:spPr>
          <a:xfrm>
            <a:off x="640080" y="4169664"/>
            <a:ext cx="6858000" cy="10972"/>
          </a:xfrm>
          <a:prstGeom prst="rect">
            <a:avLst/>
          </a:prstGeom>
          <a:solidFill>
            <a:srgbClr val="2A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8079" y="4197096"/>
            <a:ext cx="4023360" cy="420624"/>
          </a:xfrm>
          <a:prstGeom prst="roundRect">
            <a:avLst>
              <a:gd name="adj" fmla="val 12000"/>
            </a:avLst>
          </a:prstGeom>
          <a:solidFill>
            <a:srgbClr val="162A20"/>
          </a:solidFill>
          <a:ln w="12700">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315968"/>
            <a:ext cx="274320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Accessibility</a:t>
            </a:r>
          </a:p>
        </p:txBody>
      </p:sp>
      <p:sp>
        <p:nvSpPr>
          <p:cNvPr id="23" name="TextBox 22"/>
          <p:cNvSpPr txBox="1"/>
          <p:nvPr/>
        </p:nvSpPr>
        <p:spPr>
          <a:xfrm>
            <a:off x="3703320" y="4315968"/>
            <a:ext cx="3749039" cy="365760"/>
          </a:xfrm>
          <a:prstGeom prst="rect">
            <a:avLst/>
          </a:prstGeom>
          <a:noFill/>
        </p:spPr>
        <p:txBody>
          <a:bodyPr wrap="square" anchor="t" lIns="0" rIns="0" tIns="0" bIns="0">
            <a:spAutoFit/>
          </a:bodyPr>
          <a:lstStyle/>
          <a:p>
            <a:pPr algn="l">
              <a:lnSpc>
                <a:spcPct val="100000"/>
              </a:lnSpc>
            </a:pPr>
            <a:r>
              <a:rPr sz="1250" b="0">
                <a:solidFill>
                  <a:srgbClr val="9DB3A4"/>
                </a:solidFill>
                <a:latin typeface="Calibri"/>
              </a:rPr>
              <a:t>Services engagement</a:t>
            </a:r>
          </a:p>
        </p:txBody>
      </p:sp>
      <p:sp>
        <p:nvSpPr>
          <p:cNvPr id="24" name="TextBox 23"/>
          <p:cNvSpPr txBox="1"/>
          <p:nvPr/>
        </p:nvSpPr>
        <p:spPr>
          <a:xfrm>
            <a:off x="7680959" y="4315968"/>
            <a:ext cx="370332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Enforced at publish (WCAG 2.2)</a:t>
            </a:r>
          </a:p>
        </p:txBody>
      </p:sp>
      <p:sp>
        <p:nvSpPr>
          <p:cNvPr id="25" name="Rectangle 24"/>
          <p:cNvSpPr/>
          <p:nvPr/>
        </p:nvSpPr>
        <p:spPr>
          <a:xfrm>
            <a:off x="640080" y="4645152"/>
            <a:ext cx="6858000" cy="10972"/>
          </a:xfrm>
          <a:prstGeom prst="rect">
            <a:avLst/>
          </a:prstGeom>
          <a:solidFill>
            <a:srgbClr val="2A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79" y="4672584"/>
            <a:ext cx="4023360" cy="420624"/>
          </a:xfrm>
          <a:prstGeom prst="roundRect">
            <a:avLst>
              <a:gd name="adj" fmla="val 12000"/>
            </a:avLst>
          </a:prstGeom>
          <a:solidFill>
            <a:srgbClr val="162A20"/>
          </a:solidFill>
          <a:ln w="12700">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791456"/>
            <a:ext cx="274320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Agent / MCP</a:t>
            </a:r>
          </a:p>
        </p:txBody>
      </p:sp>
      <p:sp>
        <p:nvSpPr>
          <p:cNvPr id="28" name="TextBox 27"/>
          <p:cNvSpPr txBox="1"/>
          <p:nvPr/>
        </p:nvSpPr>
        <p:spPr>
          <a:xfrm>
            <a:off x="3703320" y="4791456"/>
            <a:ext cx="3749039" cy="365760"/>
          </a:xfrm>
          <a:prstGeom prst="rect">
            <a:avLst/>
          </a:prstGeom>
          <a:noFill/>
        </p:spPr>
        <p:txBody>
          <a:bodyPr wrap="square" anchor="t" lIns="0" rIns="0" tIns="0" bIns="0">
            <a:spAutoFit/>
          </a:bodyPr>
          <a:lstStyle/>
          <a:p>
            <a:pPr algn="l">
              <a:lnSpc>
                <a:spcPct val="100000"/>
              </a:lnSpc>
            </a:pPr>
            <a:r>
              <a:rPr sz="1250" b="0">
                <a:solidFill>
                  <a:srgbClr val="9DB3A4"/>
                </a:solidFill>
                <a:latin typeface="Calibri"/>
              </a:rPr>
              <a:t>—</a:t>
            </a:r>
          </a:p>
        </p:txBody>
      </p:sp>
      <p:sp>
        <p:nvSpPr>
          <p:cNvPr id="29" name="TextBox 28"/>
          <p:cNvSpPr txBox="1"/>
          <p:nvPr/>
        </p:nvSpPr>
        <p:spPr>
          <a:xfrm>
            <a:off x="7680959" y="4791456"/>
            <a:ext cx="370332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Native MCP server &amp; client</a:t>
            </a:r>
          </a:p>
        </p:txBody>
      </p:sp>
      <p:sp>
        <p:nvSpPr>
          <p:cNvPr id="30" name="Rectangle 29"/>
          <p:cNvSpPr/>
          <p:nvPr/>
        </p:nvSpPr>
        <p:spPr>
          <a:xfrm>
            <a:off x="640080" y="5120640"/>
            <a:ext cx="6858000" cy="10972"/>
          </a:xfrm>
          <a:prstGeom prst="rect">
            <a:avLst/>
          </a:prstGeom>
          <a:solidFill>
            <a:srgbClr val="2A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98079" y="5148072"/>
            <a:ext cx="4023360" cy="420624"/>
          </a:xfrm>
          <a:prstGeom prst="roundRect">
            <a:avLst>
              <a:gd name="adj" fmla="val 12000"/>
            </a:avLst>
          </a:prstGeom>
          <a:solidFill>
            <a:srgbClr val="162A20"/>
          </a:solidFill>
          <a:ln w="12700">
            <a:solidFill>
              <a:srgbClr val="D8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266944"/>
            <a:ext cx="274320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Measures</a:t>
            </a:r>
          </a:p>
        </p:txBody>
      </p:sp>
      <p:sp>
        <p:nvSpPr>
          <p:cNvPr id="33" name="TextBox 32"/>
          <p:cNvSpPr txBox="1"/>
          <p:nvPr/>
        </p:nvSpPr>
        <p:spPr>
          <a:xfrm>
            <a:off x="3703320" y="5266944"/>
            <a:ext cx="3749039" cy="365760"/>
          </a:xfrm>
          <a:prstGeom prst="rect">
            <a:avLst/>
          </a:prstGeom>
          <a:noFill/>
        </p:spPr>
        <p:txBody>
          <a:bodyPr wrap="square" anchor="t" lIns="0" rIns="0" tIns="0" bIns="0">
            <a:spAutoFit/>
          </a:bodyPr>
          <a:lstStyle/>
          <a:p>
            <a:pPr algn="l">
              <a:lnSpc>
                <a:spcPct val="100000"/>
              </a:lnSpc>
            </a:pPr>
            <a:r>
              <a:rPr sz="1250" b="0">
                <a:solidFill>
                  <a:srgbClr val="9DB3A4"/>
                </a:solidFill>
                <a:latin typeface="Calibri"/>
              </a:rPr>
              <a:t>Documents produced</a:t>
            </a:r>
          </a:p>
        </p:txBody>
      </p:sp>
      <p:sp>
        <p:nvSpPr>
          <p:cNvPr id="34" name="TextBox 33"/>
          <p:cNvSpPr txBox="1"/>
          <p:nvPr/>
        </p:nvSpPr>
        <p:spPr>
          <a:xfrm>
            <a:off x="7680959" y="5266944"/>
            <a:ext cx="3703320" cy="365760"/>
          </a:xfrm>
          <a:prstGeom prst="rect">
            <a:avLst/>
          </a:prstGeom>
          <a:noFill/>
        </p:spPr>
        <p:txBody>
          <a:bodyPr wrap="square" anchor="t" lIns="0" rIns="0" tIns="0" bIns="0">
            <a:spAutoFit/>
          </a:bodyPr>
          <a:lstStyle/>
          <a:p>
            <a:pPr algn="l">
              <a:lnSpc>
                <a:spcPct val="100000"/>
              </a:lnSpc>
            </a:pPr>
            <a:r>
              <a:rPr sz="1250" b="1">
                <a:solidFill>
                  <a:srgbClr val="EEF2EA"/>
                </a:solidFill>
                <a:latin typeface="Calibri"/>
              </a:rPr>
              <a:t>Business outcomes</a:t>
            </a:r>
          </a:p>
        </p:txBody>
      </p:sp>
      <p:sp>
        <p:nvSpPr>
          <p:cNvPr id="35" name="Rectangle 34"/>
          <p:cNvSpPr/>
          <p:nvPr/>
        </p:nvSpPr>
        <p:spPr>
          <a:xfrm>
            <a:off x="640080" y="5596127"/>
            <a:ext cx="6858000" cy="10972"/>
          </a:xfrm>
          <a:prstGeom prst="rect">
            <a:avLst/>
          </a:prstGeom>
          <a:solidFill>
            <a:srgbClr val="2A4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797296"/>
            <a:ext cx="10058400" cy="640080"/>
          </a:xfrm>
          <a:prstGeom prst="rect">
            <a:avLst/>
          </a:prstGeom>
          <a:noFill/>
        </p:spPr>
        <p:txBody>
          <a:bodyPr wrap="square" anchor="t" lIns="0" rIns="0" tIns="0" bIns="0">
            <a:spAutoFit/>
          </a:bodyPr>
          <a:lstStyle/>
          <a:p>
            <a:pPr algn="l">
              <a:lnSpc>
                <a:spcPct val="118000"/>
              </a:lnSpc>
            </a:pPr>
            <a:r>
              <a:rPr sz="1150" b="0">
                <a:solidFill>
                  <a:srgbClr val="9DB3A4"/>
                </a:solidFill>
                <a:latin typeface="Calibri"/>
              </a:rPr>
              <a:t>Quadient · OpenText · Smart Communications · Precisely · Messagepoint · Doxim are strong at high-volume production. The AI-native, outcome-first, interactive core is the ground they were not built 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11</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TRUST</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2700" b="1">
                <a:solidFill>
                  <a:srgbClr val="EEF2EA"/>
                </a:solidFill>
                <a:latin typeface="Georgia"/>
              </a:rPr>
              <a:t>Compliant and accessible by design — not by </a:t>
            </a:r>
            <a:r>
              <a:rPr sz="2700" b="1">
                <a:solidFill>
                  <a:srgbClr val="D8A24A"/>
                </a:solidFill>
                <a:latin typeface="Georgia"/>
              </a:rPr>
              <a:t>services engagement.</a:t>
            </a:r>
          </a:p>
        </p:txBody>
      </p:sp>
      <p:sp>
        <p:nvSpPr>
          <p:cNvPr id="7" name="Rounded Rectangle 6"/>
          <p:cNvSpPr/>
          <p:nvPr/>
        </p:nvSpPr>
        <p:spPr>
          <a:xfrm>
            <a:off x="640080" y="3063240"/>
            <a:ext cx="5257800" cy="3063240"/>
          </a:xfrm>
          <a:prstGeom prst="roundRect">
            <a:avLst>
              <a:gd name="adj" fmla="val 4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3337560"/>
            <a:ext cx="4617720" cy="365760"/>
          </a:xfrm>
          <a:prstGeom prst="rect">
            <a:avLst/>
          </a:prstGeom>
          <a:noFill/>
        </p:spPr>
        <p:txBody>
          <a:bodyPr wrap="square" anchor="t" lIns="0" rIns="0" tIns="0" bIns="0">
            <a:spAutoFit/>
          </a:bodyPr>
          <a:lstStyle/>
          <a:p>
            <a:pPr algn="l">
              <a:lnSpc>
                <a:spcPct val="100000"/>
              </a:lnSpc>
            </a:pPr>
            <a:r>
              <a:rPr sz="1100" b="0" spc="160">
                <a:solidFill>
                  <a:srgbClr val="D8A24A"/>
                </a:solidFill>
                <a:latin typeface="Consolas"/>
              </a:rPr>
              <a:t>COMPLIANCE</a:t>
            </a:r>
          </a:p>
        </p:txBody>
      </p:sp>
      <p:sp>
        <p:nvSpPr>
          <p:cNvPr id="9" name="TextBox 8"/>
          <p:cNvSpPr txBox="1"/>
          <p:nvPr/>
        </p:nvSpPr>
        <p:spPr>
          <a:xfrm>
            <a:off x="960119" y="3721608"/>
            <a:ext cx="4617720" cy="457200"/>
          </a:xfrm>
          <a:prstGeom prst="rect">
            <a:avLst/>
          </a:prstGeom>
          <a:noFill/>
        </p:spPr>
        <p:txBody>
          <a:bodyPr wrap="square" anchor="t" lIns="0" rIns="0" tIns="0" bIns="0">
            <a:spAutoFit/>
          </a:bodyPr>
          <a:lstStyle/>
          <a:p>
            <a:pPr algn="l">
              <a:lnSpc>
                <a:spcPct val="100000"/>
              </a:lnSpc>
            </a:pPr>
            <a:r>
              <a:rPr sz="1800" b="1">
                <a:solidFill>
                  <a:srgbClr val="EEF2EA"/>
                </a:solidFill>
                <a:latin typeface="Georgia"/>
              </a:rPr>
              <a:t>Prove everything</a:t>
            </a:r>
          </a:p>
        </p:txBody>
      </p:sp>
      <p:sp>
        <p:nvSpPr>
          <p:cNvPr id="10" name="TextBox 9"/>
          <p:cNvSpPr txBox="1"/>
          <p:nvPr/>
        </p:nvSpPr>
        <p:spPr>
          <a:xfrm>
            <a:off x="932688" y="437083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1" name="TextBox 10"/>
          <p:cNvSpPr txBox="1"/>
          <p:nvPr/>
        </p:nvSpPr>
        <p:spPr>
          <a:xfrm>
            <a:off x="1298448" y="4389120"/>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Complete chain of custody for every communication</a:t>
            </a:r>
          </a:p>
        </p:txBody>
      </p:sp>
      <p:sp>
        <p:nvSpPr>
          <p:cNvPr id="12" name="TextBox 11"/>
          <p:cNvSpPr txBox="1"/>
          <p:nvPr/>
        </p:nvSpPr>
        <p:spPr>
          <a:xfrm>
            <a:off x="932688" y="4693920"/>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3" name="TextBox 12"/>
          <p:cNvSpPr txBox="1"/>
          <p:nvPr/>
        </p:nvSpPr>
        <p:spPr>
          <a:xfrm>
            <a:off x="1298448" y="4712208"/>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Proof of delivery, access, content, approval, version, AI changes &amp; customer action</a:t>
            </a:r>
          </a:p>
        </p:txBody>
      </p:sp>
      <p:sp>
        <p:nvSpPr>
          <p:cNvPr id="14" name="TextBox 13"/>
          <p:cNvSpPr txBox="1"/>
          <p:nvPr/>
        </p:nvSpPr>
        <p:spPr>
          <a:xfrm>
            <a:off x="932688" y="5212080"/>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5" name="TextBox 14"/>
          <p:cNvSpPr txBox="1"/>
          <p:nvPr/>
        </p:nvSpPr>
        <p:spPr>
          <a:xfrm>
            <a:off x="1298448" y="5230368"/>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Hash-chained, tamper-evident audit log</a:t>
            </a:r>
          </a:p>
        </p:txBody>
      </p:sp>
      <p:sp>
        <p:nvSpPr>
          <p:cNvPr id="16" name="TextBox 15"/>
          <p:cNvSpPr txBox="1"/>
          <p:nvPr/>
        </p:nvSpPr>
        <p:spPr>
          <a:xfrm>
            <a:off x="932688" y="5535168"/>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17" name="TextBox 16"/>
          <p:cNvSpPr txBox="1"/>
          <p:nvPr/>
        </p:nvSpPr>
        <p:spPr>
          <a:xfrm>
            <a:off x="1298448" y="5553456"/>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Legal hold, retention &amp; right-to-erasure built in</a:t>
            </a:r>
          </a:p>
        </p:txBody>
      </p:sp>
      <p:sp>
        <p:nvSpPr>
          <p:cNvPr id="18" name="Rounded Rectangle 17"/>
          <p:cNvSpPr/>
          <p:nvPr/>
        </p:nvSpPr>
        <p:spPr>
          <a:xfrm>
            <a:off x="6263640" y="3063240"/>
            <a:ext cx="5257800" cy="3063240"/>
          </a:xfrm>
          <a:prstGeom prst="roundRect">
            <a:avLst>
              <a:gd name="adj" fmla="val 4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337560"/>
            <a:ext cx="4617720" cy="365760"/>
          </a:xfrm>
          <a:prstGeom prst="rect">
            <a:avLst/>
          </a:prstGeom>
          <a:noFill/>
        </p:spPr>
        <p:txBody>
          <a:bodyPr wrap="square" anchor="t" lIns="0" rIns="0" tIns="0" bIns="0">
            <a:spAutoFit/>
          </a:bodyPr>
          <a:lstStyle/>
          <a:p>
            <a:pPr algn="l">
              <a:lnSpc>
                <a:spcPct val="100000"/>
              </a:lnSpc>
            </a:pPr>
            <a:r>
              <a:rPr sz="1100" b="0" spc="160">
                <a:solidFill>
                  <a:srgbClr val="D8A24A"/>
                </a:solidFill>
                <a:latin typeface="Consolas"/>
              </a:rPr>
              <a:t>ACCESSIBILITY</a:t>
            </a:r>
          </a:p>
        </p:txBody>
      </p:sp>
      <p:sp>
        <p:nvSpPr>
          <p:cNvPr id="20" name="TextBox 19"/>
          <p:cNvSpPr txBox="1"/>
          <p:nvPr/>
        </p:nvSpPr>
        <p:spPr>
          <a:xfrm>
            <a:off x="6583680" y="3721608"/>
            <a:ext cx="4617720" cy="457200"/>
          </a:xfrm>
          <a:prstGeom prst="rect">
            <a:avLst/>
          </a:prstGeom>
          <a:noFill/>
        </p:spPr>
        <p:txBody>
          <a:bodyPr wrap="square" anchor="t" lIns="0" rIns="0" tIns="0" bIns="0">
            <a:spAutoFit/>
          </a:bodyPr>
          <a:lstStyle/>
          <a:p>
            <a:pPr algn="l">
              <a:lnSpc>
                <a:spcPct val="100000"/>
              </a:lnSpc>
            </a:pPr>
            <a:r>
              <a:rPr sz="1800" b="1">
                <a:solidFill>
                  <a:srgbClr val="EEF2EA"/>
                </a:solidFill>
                <a:latin typeface="Georgia"/>
              </a:rPr>
              <a:t>By default</a:t>
            </a:r>
          </a:p>
        </p:txBody>
      </p:sp>
      <p:sp>
        <p:nvSpPr>
          <p:cNvPr id="21" name="TextBox 20"/>
          <p:cNvSpPr txBox="1"/>
          <p:nvPr/>
        </p:nvSpPr>
        <p:spPr>
          <a:xfrm>
            <a:off x="6556248" y="4370832"/>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22" name="TextBox 21"/>
          <p:cNvSpPr txBox="1"/>
          <p:nvPr/>
        </p:nvSpPr>
        <p:spPr>
          <a:xfrm>
            <a:off x="6922008" y="4389120"/>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WCAG 2.2 AA as the product baseline</a:t>
            </a:r>
          </a:p>
        </p:txBody>
      </p:sp>
      <p:sp>
        <p:nvSpPr>
          <p:cNvPr id="23" name="TextBox 22"/>
          <p:cNvSpPr txBox="1"/>
          <p:nvPr/>
        </p:nvSpPr>
        <p:spPr>
          <a:xfrm>
            <a:off x="6556248" y="4693920"/>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24" name="TextBox 23"/>
          <p:cNvSpPr txBox="1"/>
          <p:nvPr/>
        </p:nvSpPr>
        <p:spPr>
          <a:xfrm>
            <a:off x="6922008" y="4712208"/>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Accessible tagged PDF &amp; screen-reader-ready documents</a:t>
            </a:r>
          </a:p>
        </p:txBody>
      </p:sp>
      <p:sp>
        <p:nvSpPr>
          <p:cNvPr id="25" name="TextBox 24"/>
          <p:cNvSpPr txBox="1"/>
          <p:nvPr/>
        </p:nvSpPr>
        <p:spPr>
          <a:xfrm>
            <a:off x="6556248" y="5017008"/>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26" name="TextBox 25"/>
          <p:cNvSpPr txBox="1"/>
          <p:nvPr/>
        </p:nvSpPr>
        <p:spPr>
          <a:xfrm>
            <a:off x="6922008" y="5035296"/>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Block-on-fail gates — non-compliant work can't publish</a:t>
            </a:r>
          </a:p>
        </p:txBody>
      </p:sp>
      <p:sp>
        <p:nvSpPr>
          <p:cNvPr id="27" name="TextBox 26"/>
          <p:cNvSpPr txBox="1"/>
          <p:nvPr/>
        </p:nvSpPr>
        <p:spPr>
          <a:xfrm>
            <a:off x="6556248" y="5340096"/>
            <a:ext cx="365760" cy="365760"/>
          </a:xfrm>
          <a:prstGeom prst="rect">
            <a:avLst/>
          </a:prstGeom>
          <a:noFill/>
        </p:spPr>
        <p:txBody>
          <a:bodyPr wrap="square" anchor="t" lIns="0" rIns="0" tIns="0" bIns="0">
            <a:spAutoFit/>
          </a:bodyPr>
          <a:lstStyle/>
          <a:p>
            <a:pPr algn="l">
              <a:lnSpc>
                <a:spcPct val="100000"/>
              </a:lnSpc>
            </a:pPr>
            <a:r>
              <a:rPr sz="1400" b="1">
                <a:solidFill>
                  <a:srgbClr val="D8A24A"/>
                </a:solidFill>
                <a:latin typeface="Calibri"/>
              </a:rPr>
              <a:t>✓</a:t>
            </a:r>
          </a:p>
        </p:txBody>
      </p:sp>
      <p:sp>
        <p:nvSpPr>
          <p:cNvPr id="28" name="TextBox 27"/>
          <p:cNvSpPr txBox="1"/>
          <p:nvPr/>
        </p:nvSpPr>
        <p:spPr>
          <a:xfrm>
            <a:off x="6922008" y="5358384"/>
            <a:ext cx="4297680" cy="640080"/>
          </a:xfrm>
          <a:prstGeom prst="rect">
            <a:avLst/>
          </a:prstGeom>
          <a:noFill/>
        </p:spPr>
        <p:txBody>
          <a:bodyPr wrap="square" anchor="t" lIns="0" rIns="0" tIns="0" bIns="0">
            <a:spAutoFit/>
          </a:bodyPr>
          <a:lstStyle/>
          <a:p>
            <a:pPr algn="l">
              <a:lnSpc>
                <a:spcPct val="110000"/>
              </a:lnSpc>
            </a:pPr>
            <a:r>
              <a:rPr sz="1200" b="0">
                <a:solidFill>
                  <a:srgbClr val="9DB3A4"/>
                </a:solidFill>
                <a:latin typeface="Calibri"/>
              </a:rPr>
              <a:t>The Acorn.Access widget in every interactive document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12</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GETTING THERE</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2700" b="1">
                <a:solidFill>
                  <a:srgbClr val="EEF2EA"/>
                </a:solidFill>
                <a:latin typeface="Georgia"/>
              </a:rPr>
              <a:t>Migration is a modernization engine — not a lift-and-shift of </a:t>
            </a:r>
            <a:r>
              <a:rPr sz="2700" b="1">
                <a:solidFill>
                  <a:srgbClr val="D8A24A"/>
                </a:solidFill>
                <a:latin typeface="Georgia"/>
              </a:rPr>
              <a:t>old problems.</a:t>
            </a:r>
          </a:p>
        </p:txBody>
      </p:sp>
      <p:sp>
        <p:nvSpPr>
          <p:cNvPr id="7" name="Rounded Rectangle 6"/>
          <p:cNvSpPr/>
          <p:nvPr/>
        </p:nvSpPr>
        <p:spPr>
          <a:xfrm>
            <a:off x="640080" y="3154680"/>
            <a:ext cx="3474720" cy="24231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548640" cy="457200"/>
          </a:xfrm>
          <a:prstGeom prst="rect">
            <a:avLst/>
          </a:prstGeom>
          <a:noFill/>
        </p:spPr>
        <p:txBody>
          <a:bodyPr wrap="square" anchor="t" lIns="0" rIns="0" tIns="0" bIns="0">
            <a:spAutoFit/>
          </a:bodyPr>
          <a:lstStyle/>
          <a:p>
            <a:pPr algn="l">
              <a:lnSpc>
                <a:spcPct val="100000"/>
              </a:lnSpc>
            </a:pPr>
            <a:r>
              <a:rPr sz="1600" b="1">
                <a:solidFill>
                  <a:srgbClr val="0D1C15"/>
                </a:solidFill>
                <a:latin typeface="Georgia"/>
              </a:rPr>
              <a:t>1</a:t>
            </a:r>
          </a:p>
        </p:txBody>
      </p:sp>
      <p:sp>
        <p:nvSpPr>
          <p:cNvPr id="9" name="Rounded Rectangle 8"/>
          <p:cNvSpPr/>
          <p:nvPr/>
        </p:nvSpPr>
        <p:spPr>
          <a:xfrm>
            <a:off x="914400" y="3447288"/>
            <a:ext cx="457200" cy="457200"/>
          </a:xfrm>
          <a:prstGeom prst="roundRect">
            <a:avLst>
              <a:gd name="adj" fmla="val 50000"/>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20440"/>
            <a:ext cx="457200" cy="365760"/>
          </a:xfrm>
          <a:prstGeom prst="rect">
            <a:avLst/>
          </a:prstGeom>
          <a:noFill/>
        </p:spPr>
        <p:txBody>
          <a:bodyPr wrap="square" anchor="t" lIns="0" rIns="0" tIns="0" bIns="0">
            <a:spAutoFit/>
          </a:bodyPr>
          <a:lstStyle/>
          <a:p>
            <a:pPr algn="ctr">
              <a:lnSpc>
                <a:spcPct val="100000"/>
              </a:lnSpc>
            </a:pPr>
            <a:r>
              <a:rPr sz="1500" b="1">
                <a:solidFill>
                  <a:srgbClr val="0D1C15"/>
                </a:solidFill>
                <a:latin typeface="Georgia"/>
              </a:rPr>
              <a:t>1</a:t>
            </a:r>
          </a:p>
        </p:txBody>
      </p:sp>
      <p:sp>
        <p:nvSpPr>
          <p:cNvPr id="11" name="TextBox 10"/>
          <p:cNvSpPr txBox="1"/>
          <p:nvPr/>
        </p:nvSpPr>
        <p:spPr>
          <a:xfrm>
            <a:off x="1554480" y="3465576"/>
            <a:ext cx="2377439" cy="457200"/>
          </a:xfrm>
          <a:prstGeom prst="rect">
            <a:avLst/>
          </a:prstGeom>
          <a:noFill/>
        </p:spPr>
        <p:txBody>
          <a:bodyPr wrap="square" anchor="t" lIns="0" rIns="0" tIns="0" bIns="0">
            <a:spAutoFit/>
          </a:bodyPr>
          <a:lstStyle/>
          <a:p>
            <a:pPr algn="l">
              <a:lnSpc>
                <a:spcPct val="100000"/>
              </a:lnSpc>
            </a:pPr>
            <a:r>
              <a:rPr sz="1700" b="1">
                <a:solidFill>
                  <a:srgbClr val="D8A24A"/>
                </a:solidFill>
                <a:latin typeface="Georgia"/>
              </a:rPr>
              <a:t>Ingest</a:t>
            </a:r>
          </a:p>
        </p:txBody>
      </p:sp>
      <p:sp>
        <p:nvSpPr>
          <p:cNvPr id="12" name="TextBox 11"/>
          <p:cNvSpPr txBox="1"/>
          <p:nvPr/>
        </p:nvSpPr>
        <p:spPr>
          <a:xfrm>
            <a:off x="914400" y="4114800"/>
            <a:ext cx="2926079" cy="457200"/>
          </a:xfrm>
          <a:prstGeom prst="rect">
            <a:avLst/>
          </a:prstGeom>
          <a:noFill/>
        </p:spPr>
        <p:txBody>
          <a:bodyPr wrap="square" anchor="t" lIns="0" rIns="0" tIns="0" bIns="0">
            <a:spAutoFit/>
          </a:bodyPr>
          <a:lstStyle/>
          <a:p>
            <a:pPr algn="l">
              <a:lnSpc>
                <a:spcPct val="105000"/>
              </a:lnSpc>
            </a:pPr>
            <a:r>
              <a:rPr sz="1300" b="1">
                <a:solidFill>
                  <a:srgbClr val="EEF2EA"/>
                </a:solidFill>
                <a:latin typeface="Calibri"/>
              </a:rPr>
              <a:t>AI reads your legacy estate</a:t>
            </a:r>
          </a:p>
        </p:txBody>
      </p:sp>
      <p:sp>
        <p:nvSpPr>
          <p:cNvPr id="13" name="TextBox 12"/>
          <p:cNvSpPr txBox="1"/>
          <p:nvPr/>
        </p:nvSpPr>
        <p:spPr>
          <a:xfrm>
            <a:off x="914400" y="4617720"/>
            <a:ext cx="2926079" cy="914400"/>
          </a:xfrm>
          <a:prstGeom prst="rect">
            <a:avLst/>
          </a:prstGeom>
          <a:noFill/>
        </p:spPr>
        <p:txBody>
          <a:bodyPr wrap="square" anchor="t" lIns="0" rIns="0" tIns="0" bIns="0">
            <a:spAutoFit/>
          </a:bodyPr>
          <a:lstStyle/>
          <a:p>
            <a:pPr algn="l">
              <a:lnSpc>
                <a:spcPct val="115000"/>
              </a:lnSpc>
            </a:pPr>
            <a:r>
              <a:rPr sz="1150" b="0">
                <a:solidFill>
                  <a:srgbClr val="9DB3A4"/>
                </a:solidFill>
                <a:latin typeface="Calibri"/>
              </a:rPr>
              <a:t>Inspire, Exstream, DOC1, PDFs and print streams — parsed into modern, editable templates.</a:t>
            </a:r>
          </a:p>
        </p:txBody>
      </p:sp>
      <p:sp>
        <p:nvSpPr>
          <p:cNvPr id="14" name="Rounded Rectangle 13"/>
          <p:cNvSpPr/>
          <p:nvPr/>
        </p:nvSpPr>
        <p:spPr>
          <a:xfrm>
            <a:off x="4379976" y="3154680"/>
            <a:ext cx="3474720" cy="24231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3429000"/>
            <a:ext cx="548640" cy="457200"/>
          </a:xfrm>
          <a:prstGeom prst="rect">
            <a:avLst/>
          </a:prstGeom>
          <a:noFill/>
        </p:spPr>
        <p:txBody>
          <a:bodyPr wrap="square" anchor="t" lIns="0" rIns="0" tIns="0" bIns="0">
            <a:spAutoFit/>
          </a:bodyPr>
          <a:lstStyle/>
          <a:p>
            <a:pPr algn="l">
              <a:lnSpc>
                <a:spcPct val="100000"/>
              </a:lnSpc>
            </a:pPr>
            <a:r>
              <a:rPr sz="1600" b="1">
                <a:solidFill>
                  <a:srgbClr val="0D1C15"/>
                </a:solidFill>
                <a:latin typeface="Georgia"/>
              </a:rPr>
              <a:t>2</a:t>
            </a:r>
          </a:p>
        </p:txBody>
      </p:sp>
      <p:sp>
        <p:nvSpPr>
          <p:cNvPr id="16" name="Rounded Rectangle 15"/>
          <p:cNvSpPr/>
          <p:nvPr/>
        </p:nvSpPr>
        <p:spPr>
          <a:xfrm>
            <a:off x="4654296" y="3447288"/>
            <a:ext cx="457200" cy="457200"/>
          </a:xfrm>
          <a:prstGeom prst="roundRect">
            <a:avLst>
              <a:gd name="adj" fmla="val 50000"/>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4296" y="3520440"/>
            <a:ext cx="457200" cy="365760"/>
          </a:xfrm>
          <a:prstGeom prst="rect">
            <a:avLst/>
          </a:prstGeom>
          <a:noFill/>
        </p:spPr>
        <p:txBody>
          <a:bodyPr wrap="square" anchor="t" lIns="0" rIns="0" tIns="0" bIns="0">
            <a:spAutoFit/>
          </a:bodyPr>
          <a:lstStyle/>
          <a:p>
            <a:pPr algn="ctr">
              <a:lnSpc>
                <a:spcPct val="100000"/>
              </a:lnSpc>
            </a:pPr>
            <a:r>
              <a:rPr sz="1500" b="1">
                <a:solidFill>
                  <a:srgbClr val="0D1C15"/>
                </a:solidFill>
                <a:latin typeface="Georgia"/>
              </a:rPr>
              <a:t>2</a:t>
            </a:r>
          </a:p>
        </p:txBody>
      </p:sp>
      <p:sp>
        <p:nvSpPr>
          <p:cNvPr id="18" name="TextBox 17"/>
          <p:cNvSpPr txBox="1"/>
          <p:nvPr/>
        </p:nvSpPr>
        <p:spPr>
          <a:xfrm>
            <a:off x="5294376" y="3465576"/>
            <a:ext cx="2377439" cy="457200"/>
          </a:xfrm>
          <a:prstGeom prst="rect">
            <a:avLst/>
          </a:prstGeom>
          <a:noFill/>
        </p:spPr>
        <p:txBody>
          <a:bodyPr wrap="square" anchor="t" lIns="0" rIns="0" tIns="0" bIns="0">
            <a:spAutoFit/>
          </a:bodyPr>
          <a:lstStyle/>
          <a:p>
            <a:pPr algn="l">
              <a:lnSpc>
                <a:spcPct val="100000"/>
              </a:lnSpc>
            </a:pPr>
            <a:r>
              <a:rPr sz="1700" b="1">
                <a:solidFill>
                  <a:srgbClr val="D8A24A"/>
                </a:solidFill>
                <a:latin typeface="Georgia"/>
              </a:rPr>
              <a:t>Rationalize</a:t>
            </a:r>
          </a:p>
        </p:txBody>
      </p:sp>
      <p:sp>
        <p:nvSpPr>
          <p:cNvPr id="19" name="TextBox 18"/>
          <p:cNvSpPr txBox="1"/>
          <p:nvPr/>
        </p:nvSpPr>
        <p:spPr>
          <a:xfrm>
            <a:off x="4654296" y="4114800"/>
            <a:ext cx="2926079" cy="457200"/>
          </a:xfrm>
          <a:prstGeom prst="rect">
            <a:avLst/>
          </a:prstGeom>
          <a:noFill/>
        </p:spPr>
        <p:txBody>
          <a:bodyPr wrap="square" anchor="t" lIns="0" rIns="0" tIns="0" bIns="0">
            <a:spAutoFit/>
          </a:bodyPr>
          <a:lstStyle/>
          <a:p>
            <a:pPr algn="l">
              <a:lnSpc>
                <a:spcPct val="105000"/>
              </a:lnSpc>
            </a:pPr>
            <a:r>
              <a:rPr sz="1300" b="1">
                <a:solidFill>
                  <a:srgbClr val="EEF2EA"/>
                </a:solidFill>
                <a:latin typeface="Calibri"/>
              </a:rPr>
              <a:t>1,400 variants → ~80 canonical</a:t>
            </a:r>
          </a:p>
        </p:txBody>
      </p:sp>
      <p:sp>
        <p:nvSpPr>
          <p:cNvPr id="20" name="TextBox 19"/>
          <p:cNvSpPr txBox="1"/>
          <p:nvPr/>
        </p:nvSpPr>
        <p:spPr>
          <a:xfrm>
            <a:off x="4654296" y="4617720"/>
            <a:ext cx="2926079" cy="914400"/>
          </a:xfrm>
          <a:prstGeom prst="rect">
            <a:avLst/>
          </a:prstGeom>
          <a:noFill/>
        </p:spPr>
        <p:txBody>
          <a:bodyPr wrap="square" anchor="t" lIns="0" rIns="0" tIns="0" bIns="0">
            <a:spAutoFit/>
          </a:bodyPr>
          <a:lstStyle/>
          <a:p>
            <a:pPr algn="l">
              <a:lnSpc>
                <a:spcPct val="115000"/>
              </a:lnSpc>
            </a:pPr>
            <a:r>
              <a:rPr sz="1150" b="0">
                <a:solidFill>
                  <a:srgbClr val="9DB3A4"/>
                </a:solidFill>
                <a:latin typeface="Calibri"/>
              </a:rPr>
              <a:t>AI detects near-duplicate disclosures and collapses them into parameterized, governed content.</a:t>
            </a:r>
          </a:p>
        </p:txBody>
      </p:sp>
      <p:sp>
        <p:nvSpPr>
          <p:cNvPr id="21" name="Rounded Rectangle 20"/>
          <p:cNvSpPr/>
          <p:nvPr/>
        </p:nvSpPr>
        <p:spPr>
          <a:xfrm>
            <a:off x="8119871" y="3154680"/>
            <a:ext cx="3474720" cy="24231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94192" y="3429000"/>
            <a:ext cx="548640" cy="457200"/>
          </a:xfrm>
          <a:prstGeom prst="rect">
            <a:avLst/>
          </a:prstGeom>
          <a:noFill/>
        </p:spPr>
        <p:txBody>
          <a:bodyPr wrap="square" anchor="t" lIns="0" rIns="0" tIns="0" bIns="0">
            <a:spAutoFit/>
          </a:bodyPr>
          <a:lstStyle/>
          <a:p>
            <a:pPr algn="l">
              <a:lnSpc>
                <a:spcPct val="100000"/>
              </a:lnSpc>
            </a:pPr>
            <a:r>
              <a:rPr sz="1600" b="1">
                <a:solidFill>
                  <a:srgbClr val="0D1C15"/>
                </a:solidFill>
                <a:latin typeface="Georgia"/>
              </a:rPr>
              <a:t>3</a:t>
            </a:r>
          </a:p>
        </p:txBody>
      </p:sp>
      <p:sp>
        <p:nvSpPr>
          <p:cNvPr id="23" name="Rounded Rectangle 22"/>
          <p:cNvSpPr/>
          <p:nvPr/>
        </p:nvSpPr>
        <p:spPr>
          <a:xfrm>
            <a:off x="8394192" y="3447288"/>
            <a:ext cx="457200" cy="457200"/>
          </a:xfrm>
          <a:prstGeom prst="roundRect">
            <a:avLst>
              <a:gd name="adj" fmla="val 50000"/>
            </a:avLst>
          </a:prstGeom>
          <a:solidFill>
            <a:srgbClr val="D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94192" y="3520440"/>
            <a:ext cx="457200" cy="365760"/>
          </a:xfrm>
          <a:prstGeom prst="rect">
            <a:avLst/>
          </a:prstGeom>
          <a:noFill/>
        </p:spPr>
        <p:txBody>
          <a:bodyPr wrap="square" anchor="t" lIns="0" rIns="0" tIns="0" bIns="0">
            <a:spAutoFit/>
          </a:bodyPr>
          <a:lstStyle/>
          <a:p>
            <a:pPr algn="ctr">
              <a:lnSpc>
                <a:spcPct val="100000"/>
              </a:lnSpc>
            </a:pPr>
            <a:r>
              <a:rPr sz="1500" b="1">
                <a:solidFill>
                  <a:srgbClr val="0D1C15"/>
                </a:solidFill>
                <a:latin typeface="Georgia"/>
              </a:rPr>
              <a:t>3</a:t>
            </a:r>
          </a:p>
        </p:txBody>
      </p:sp>
      <p:sp>
        <p:nvSpPr>
          <p:cNvPr id="25" name="TextBox 24"/>
          <p:cNvSpPr txBox="1"/>
          <p:nvPr/>
        </p:nvSpPr>
        <p:spPr>
          <a:xfrm>
            <a:off x="9034272" y="3465576"/>
            <a:ext cx="2377439" cy="457200"/>
          </a:xfrm>
          <a:prstGeom prst="rect">
            <a:avLst/>
          </a:prstGeom>
          <a:noFill/>
        </p:spPr>
        <p:txBody>
          <a:bodyPr wrap="square" anchor="t" lIns="0" rIns="0" tIns="0" bIns="0">
            <a:spAutoFit/>
          </a:bodyPr>
          <a:lstStyle/>
          <a:p>
            <a:pPr algn="l">
              <a:lnSpc>
                <a:spcPct val="100000"/>
              </a:lnSpc>
            </a:pPr>
            <a:r>
              <a:rPr sz="1700" b="1">
                <a:solidFill>
                  <a:srgbClr val="D8A24A"/>
                </a:solidFill>
                <a:latin typeface="Georgia"/>
              </a:rPr>
              <a:t>Verify</a:t>
            </a:r>
          </a:p>
        </p:txBody>
      </p:sp>
      <p:sp>
        <p:nvSpPr>
          <p:cNvPr id="26" name="TextBox 25"/>
          <p:cNvSpPr txBox="1"/>
          <p:nvPr/>
        </p:nvSpPr>
        <p:spPr>
          <a:xfrm>
            <a:off x="8394192" y="4114800"/>
            <a:ext cx="2926079" cy="457200"/>
          </a:xfrm>
          <a:prstGeom prst="rect">
            <a:avLst/>
          </a:prstGeom>
          <a:noFill/>
        </p:spPr>
        <p:txBody>
          <a:bodyPr wrap="square" anchor="t" lIns="0" rIns="0" tIns="0" bIns="0">
            <a:spAutoFit/>
          </a:bodyPr>
          <a:lstStyle/>
          <a:p>
            <a:pPr algn="l">
              <a:lnSpc>
                <a:spcPct val="105000"/>
              </a:lnSpc>
            </a:pPr>
            <a:r>
              <a:rPr sz="1300" b="1">
                <a:solidFill>
                  <a:srgbClr val="EEF2EA"/>
                </a:solidFill>
                <a:latin typeface="Calibri"/>
              </a:rPr>
              <a:t>Parallel-run before cutover</a:t>
            </a:r>
          </a:p>
        </p:txBody>
      </p:sp>
      <p:sp>
        <p:nvSpPr>
          <p:cNvPr id="27" name="TextBox 26"/>
          <p:cNvSpPr txBox="1"/>
          <p:nvPr/>
        </p:nvSpPr>
        <p:spPr>
          <a:xfrm>
            <a:off x="8394192" y="4617720"/>
            <a:ext cx="2926079" cy="914400"/>
          </a:xfrm>
          <a:prstGeom prst="rect">
            <a:avLst/>
          </a:prstGeom>
          <a:noFill/>
        </p:spPr>
        <p:txBody>
          <a:bodyPr wrap="square" anchor="t" lIns="0" rIns="0" tIns="0" bIns="0">
            <a:spAutoFit/>
          </a:bodyPr>
          <a:lstStyle/>
          <a:p>
            <a:pPr algn="l">
              <a:lnSpc>
                <a:spcPct val="115000"/>
              </a:lnSpc>
            </a:pPr>
            <a:r>
              <a:rPr sz="1150" b="0">
                <a:solidFill>
                  <a:srgbClr val="9DB3A4"/>
                </a:solidFill>
                <a:latin typeface="Calibri"/>
              </a:rPr>
              <a:t>New output is diffed against the old on real data, so you prove equivalence before you switch.</a:t>
            </a:r>
          </a:p>
        </p:txBody>
      </p:sp>
      <p:sp>
        <p:nvSpPr>
          <p:cNvPr id="28" name="TextBox 27"/>
          <p:cNvSpPr txBox="1"/>
          <p:nvPr/>
        </p:nvSpPr>
        <p:spPr>
          <a:xfrm>
            <a:off x="640080" y="5779007"/>
            <a:ext cx="10881360" cy="548640"/>
          </a:xfrm>
          <a:prstGeom prst="rect">
            <a:avLst/>
          </a:prstGeom>
          <a:noFill/>
        </p:spPr>
        <p:txBody>
          <a:bodyPr wrap="square" anchor="t" lIns="0" rIns="0" tIns="0" bIns="0">
            <a:spAutoFit/>
          </a:bodyPr>
          <a:lstStyle/>
          <a:p>
            <a:pPr algn="l">
              <a:lnSpc>
                <a:spcPct val="120000"/>
              </a:lnSpc>
            </a:pPr>
            <a:r>
              <a:rPr sz="1250" b="0">
                <a:solidFill>
                  <a:srgbClr val="7FB99A"/>
                </a:solidFill>
                <a:latin typeface="Calibri"/>
              </a:rPr>
              <a:t>Start with one high-value communication. Expand across the estate. Migration becomes the moment you clean up — not carry forward — decades of drift.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13</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FITS YOUR ESTATE</a:t>
            </a:r>
          </a:p>
        </p:txBody>
      </p:sp>
      <p:sp>
        <p:nvSpPr>
          <p:cNvPr id="6" name="TextBox 5"/>
          <p:cNvSpPr txBox="1"/>
          <p:nvPr/>
        </p:nvSpPr>
        <p:spPr>
          <a:xfrm>
            <a:off x="640080" y="1828800"/>
            <a:ext cx="10881360" cy="1645920"/>
          </a:xfrm>
          <a:prstGeom prst="rect">
            <a:avLst/>
          </a:prstGeom>
          <a:noFill/>
        </p:spPr>
        <p:txBody>
          <a:bodyPr wrap="square" anchor="t" lIns="0" rIns="0" tIns="0" bIns="0">
            <a:spAutoFit/>
          </a:bodyPr>
          <a:lstStyle/>
          <a:p>
            <a:pPr algn="l">
              <a:lnSpc>
                <a:spcPct val="102000"/>
              </a:lnSpc>
            </a:pPr>
            <a:r>
              <a:rPr sz="3200" b="1">
                <a:solidFill>
                  <a:srgbClr val="EEF2EA"/>
                </a:solidFill>
                <a:latin typeface="Georgia"/>
              </a:rPr>
              <a:t>Deploy anywhere. Integrate with </a:t>
            </a:r>
            <a:r>
              <a:rPr sz="3200" b="1">
                <a:solidFill>
                  <a:srgbClr val="D8A24A"/>
                </a:solidFill>
                <a:latin typeface="Georgia"/>
              </a:rPr>
              <a:t>everything.</a:t>
            </a:r>
          </a:p>
        </p:txBody>
      </p:sp>
      <p:sp>
        <p:nvSpPr>
          <p:cNvPr id="7" name="Rounded Rectangle 6"/>
          <p:cNvSpPr/>
          <p:nvPr/>
        </p:nvSpPr>
        <p:spPr>
          <a:xfrm>
            <a:off x="640080" y="3063240"/>
            <a:ext cx="5257800" cy="3063240"/>
          </a:xfrm>
          <a:prstGeom prst="roundRect">
            <a:avLst>
              <a:gd name="adj" fmla="val 4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3337560"/>
            <a:ext cx="4617720" cy="365760"/>
          </a:xfrm>
          <a:prstGeom prst="rect">
            <a:avLst/>
          </a:prstGeom>
          <a:noFill/>
        </p:spPr>
        <p:txBody>
          <a:bodyPr wrap="square" anchor="t" lIns="0" rIns="0" tIns="0" bIns="0">
            <a:spAutoFit/>
          </a:bodyPr>
          <a:lstStyle/>
          <a:p>
            <a:pPr algn="l">
              <a:lnSpc>
                <a:spcPct val="100000"/>
              </a:lnSpc>
            </a:pPr>
            <a:r>
              <a:rPr sz="1100" b="0" spc="160">
                <a:solidFill>
                  <a:srgbClr val="D8A24A"/>
                </a:solidFill>
                <a:latin typeface="Consolas"/>
              </a:rPr>
              <a:t>ANY-PREMISE</a:t>
            </a:r>
          </a:p>
        </p:txBody>
      </p:sp>
      <p:sp>
        <p:nvSpPr>
          <p:cNvPr id="9" name="TextBox 8"/>
          <p:cNvSpPr txBox="1"/>
          <p:nvPr/>
        </p:nvSpPr>
        <p:spPr>
          <a:xfrm>
            <a:off x="960119" y="3721608"/>
            <a:ext cx="4617720" cy="45720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Runs where your data must live</a:t>
            </a:r>
          </a:p>
        </p:txBody>
      </p:sp>
      <p:sp>
        <p:nvSpPr>
          <p:cNvPr id="10" name="Rounded Rectangle 9"/>
          <p:cNvSpPr/>
          <p:nvPr/>
        </p:nvSpPr>
        <p:spPr>
          <a:xfrm>
            <a:off x="960119" y="4389120"/>
            <a:ext cx="896112" cy="502920"/>
          </a:xfrm>
          <a:prstGeom prst="roundRect">
            <a:avLst>
              <a:gd name="adj" fmla="val 50000"/>
            </a:avLst>
          </a:prstGeom>
          <a:solidFill>
            <a:srgbClr val="162A20"/>
          </a:solidFill>
          <a:ln w="12700">
            <a:solidFill>
              <a:srgbClr val="7FB9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4507992"/>
            <a:ext cx="896112"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SaaS</a:t>
            </a:r>
          </a:p>
        </p:txBody>
      </p:sp>
      <p:sp>
        <p:nvSpPr>
          <p:cNvPr id="12" name="Rounded Rectangle 11"/>
          <p:cNvSpPr/>
          <p:nvPr/>
        </p:nvSpPr>
        <p:spPr>
          <a:xfrm>
            <a:off x="2039111" y="4389120"/>
            <a:ext cx="1883664" cy="502920"/>
          </a:xfrm>
          <a:prstGeom prst="roundRect">
            <a:avLst>
              <a:gd name="adj" fmla="val 50000"/>
            </a:avLst>
          </a:prstGeom>
          <a:solidFill>
            <a:srgbClr val="162A20"/>
          </a:solidFill>
          <a:ln w="12700">
            <a:solidFill>
              <a:srgbClr val="7FB9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39111" y="4507992"/>
            <a:ext cx="1883664"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Private cloud</a:t>
            </a:r>
          </a:p>
        </p:txBody>
      </p:sp>
      <p:sp>
        <p:nvSpPr>
          <p:cNvPr id="14" name="Rounded Rectangle 13"/>
          <p:cNvSpPr/>
          <p:nvPr/>
        </p:nvSpPr>
        <p:spPr>
          <a:xfrm>
            <a:off x="4105656" y="4389120"/>
            <a:ext cx="1115568" cy="502920"/>
          </a:xfrm>
          <a:prstGeom prst="roundRect">
            <a:avLst>
              <a:gd name="adj" fmla="val 50000"/>
            </a:avLst>
          </a:prstGeom>
          <a:solidFill>
            <a:srgbClr val="162A20"/>
          </a:solidFill>
          <a:ln w="12700">
            <a:solidFill>
              <a:srgbClr val="7FB9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05656" y="4507992"/>
            <a:ext cx="1115568"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Hybrid</a:t>
            </a:r>
          </a:p>
        </p:txBody>
      </p:sp>
      <p:sp>
        <p:nvSpPr>
          <p:cNvPr id="16" name="Rounded Rectangle 15"/>
          <p:cNvSpPr/>
          <p:nvPr/>
        </p:nvSpPr>
        <p:spPr>
          <a:xfrm>
            <a:off x="960119" y="4992624"/>
            <a:ext cx="1773936" cy="502920"/>
          </a:xfrm>
          <a:prstGeom prst="roundRect">
            <a:avLst>
              <a:gd name="adj" fmla="val 50000"/>
            </a:avLst>
          </a:prstGeom>
          <a:solidFill>
            <a:srgbClr val="162A20"/>
          </a:solidFill>
          <a:ln w="12700">
            <a:solidFill>
              <a:srgbClr val="7FB9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19" y="5111496"/>
            <a:ext cx="1773936" cy="320040"/>
          </a:xfrm>
          <a:prstGeom prst="rect">
            <a:avLst/>
          </a:prstGeom>
          <a:noFill/>
        </p:spPr>
        <p:txBody>
          <a:bodyPr wrap="square" anchor="t" lIns="0" rIns="0" tIns="0" bIns="0">
            <a:spAutoFit/>
          </a:bodyPr>
          <a:lstStyle/>
          <a:p>
            <a:pPr algn="ctr">
              <a:lnSpc>
                <a:spcPct val="100000"/>
              </a:lnSpc>
            </a:pPr>
            <a:r>
              <a:rPr sz="1250" b="0">
                <a:solidFill>
                  <a:srgbClr val="7FB99A"/>
                </a:solidFill>
                <a:latin typeface="Calibri"/>
              </a:rPr>
              <a:t>Customer VPC</a:t>
            </a:r>
          </a:p>
        </p:txBody>
      </p:sp>
      <p:sp>
        <p:nvSpPr>
          <p:cNvPr id="18" name="TextBox 17"/>
          <p:cNvSpPr txBox="1"/>
          <p:nvPr/>
        </p:nvSpPr>
        <p:spPr>
          <a:xfrm>
            <a:off x="960119" y="5504688"/>
            <a:ext cx="4617720" cy="594360"/>
          </a:xfrm>
          <a:prstGeom prst="rect">
            <a:avLst/>
          </a:prstGeom>
          <a:noFill/>
        </p:spPr>
        <p:txBody>
          <a:bodyPr wrap="square" anchor="t" lIns="0" rIns="0" tIns="0" bIns="0">
            <a:spAutoFit/>
          </a:bodyPr>
          <a:lstStyle/>
          <a:p>
            <a:pPr algn="l">
              <a:lnSpc>
                <a:spcPct val="112000"/>
              </a:lnSpc>
            </a:pPr>
            <a:r>
              <a:rPr sz="1100" b="0">
                <a:solidFill>
                  <a:srgbClr val="9DB3A4"/>
                </a:solidFill>
                <a:latin typeface="Calibri"/>
              </a:rPr>
              <a:t>The same product, deployed into your boundary when regulation or data residency requires it.</a:t>
            </a:r>
          </a:p>
        </p:txBody>
      </p:sp>
      <p:sp>
        <p:nvSpPr>
          <p:cNvPr id="19" name="Rounded Rectangle 18"/>
          <p:cNvSpPr/>
          <p:nvPr/>
        </p:nvSpPr>
        <p:spPr>
          <a:xfrm>
            <a:off x="6263640" y="3063240"/>
            <a:ext cx="5257800" cy="3063240"/>
          </a:xfrm>
          <a:prstGeom prst="roundRect">
            <a:avLst>
              <a:gd name="adj" fmla="val 4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337560"/>
            <a:ext cx="4617720" cy="365760"/>
          </a:xfrm>
          <a:prstGeom prst="rect">
            <a:avLst/>
          </a:prstGeom>
          <a:noFill/>
        </p:spPr>
        <p:txBody>
          <a:bodyPr wrap="square" anchor="t" lIns="0" rIns="0" tIns="0" bIns="0">
            <a:spAutoFit/>
          </a:bodyPr>
          <a:lstStyle/>
          <a:p>
            <a:pPr algn="l">
              <a:lnSpc>
                <a:spcPct val="100000"/>
              </a:lnSpc>
            </a:pPr>
            <a:r>
              <a:rPr sz="1100" b="0" spc="160">
                <a:solidFill>
                  <a:srgbClr val="D8A24A"/>
                </a:solidFill>
                <a:latin typeface="Consolas"/>
              </a:rPr>
              <a:t>INTEGRATE WITH ANYTHING</a:t>
            </a:r>
          </a:p>
        </p:txBody>
      </p:sp>
      <p:sp>
        <p:nvSpPr>
          <p:cNvPr id="21" name="TextBox 20"/>
          <p:cNvSpPr txBox="1"/>
          <p:nvPr/>
        </p:nvSpPr>
        <p:spPr>
          <a:xfrm>
            <a:off x="6583680" y="3721608"/>
            <a:ext cx="4617720" cy="45720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Communication data never arrives clean</a:t>
            </a:r>
          </a:p>
        </p:txBody>
      </p:sp>
      <p:sp>
        <p:nvSpPr>
          <p:cNvPr id="22" name="Rounded Rectangle 21"/>
          <p:cNvSpPr/>
          <p:nvPr/>
        </p:nvSpPr>
        <p:spPr>
          <a:xfrm>
            <a:off x="6583680" y="4434840"/>
            <a:ext cx="1510588"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544568"/>
            <a:ext cx="1510588"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REST · OpenAPI</a:t>
            </a:r>
          </a:p>
        </p:txBody>
      </p:sp>
      <p:sp>
        <p:nvSpPr>
          <p:cNvPr id="24" name="Rounded Rectangle 23"/>
          <p:cNvSpPr/>
          <p:nvPr/>
        </p:nvSpPr>
        <p:spPr>
          <a:xfrm>
            <a:off x="8258860" y="4434840"/>
            <a:ext cx="947318"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8860" y="4544568"/>
            <a:ext cx="947318"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GraphQL</a:t>
            </a:r>
          </a:p>
        </p:txBody>
      </p:sp>
      <p:sp>
        <p:nvSpPr>
          <p:cNvPr id="26" name="Rounded Rectangle 25"/>
          <p:cNvSpPr/>
          <p:nvPr/>
        </p:nvSpPr>
        <p:spPr>
          <a:xfrm>
            <a:off x="9370771" y="4434840"/>
            <a:ext cx="1349654"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0771" y="4544568"/>
            <a:ext cx="1349654"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MCP · agents</a:t>
            </a:r>
          </a:p>
        </p:txBody>
      </p:sp>
      <p:sp>
        <p:nvSpPr>
          <p:cNvPr id="28" name="Rounded Rectangle 27"/>
          <p:cNvSpPr/>
          <p:nvPr/>
        </p:nvSpPr>
        <p:spPr>
          <a:xfrm>
            <a:off x="6583680" y="5029200"/>
            <a:ext cx="1027785"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5138928"/>
            <a:ext cx="1027785"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Webhooks</a:t>
            </a:r>
          </a:p>
        </p:txBody>
      </p:sp>
      <p:sp>
        <p:nvSpPr>
          <p:cNvPr id="30" name="Rounded Rectangle 29"/>
          <p:cNvSpPr/>
          <p:nvPr/>
        </p:nvSpPr>
        <p:spPr>
          <a:xfrm>
            <a:off x="7776057" y="5029200"/>
            <a:ext cx="1912924"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6057" y="5138928"/>
            <a:ext cx="1912924"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Kafka · CloudEvents</a:t>
            </a:r>
          </a:p>
        </p:txBody>
      </p:sp>
      <p:sp>
        <p:nvSpPr>
          <p:cNvPr id="32" name="Rounded Rectangle 31"/>
          <p:cNvSpPr/>
          <p:nvPr/>
        </p:nvSpPr>
        <p:spPr>
          <a:xfrm>
            <a:off x="9853574" y="5029200"/>
            <a:ext cx="1188719"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53574" y="5138928"/>
            <a:ext cx="1188719"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SFTP · CDC</a:t>
            </a:r>
          </a:p>
        </p:txBody>
      </p:sp>
      <p:sp>
        <p:nvSpPr>
          <p:cNvPr id="34" name="Rounded Rectangle 33"/>
          <p:cNvSpPr/>
          <p:nvPr/>
        </p:nvSpPr>
        <p:spPr>
          <a:xfrm>
            <a:off x="6583680" y="5623560"/>
            <a:ext cx="3119932" cy="457200"/>
          </a:xfrm>
          <a:prstGeom prst="roundRect">
            <a:avLst>
              <a:gd name="adj" fmla="val 30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5733288"/>
            <a:ext cx="3119932" cy="274320"/>
          </a:xfrm>
          <a:prstGeom prst="rect">
            <a:avLst/>
          </a:prstGeom>
          <a:noFill/>
        </p:spPr>
        <p:txBody>
          <a:bodyPr wrap="square" anchor="t" lIns="0" rIns="0" tIns="0" bIns="0">
            <a:spAutoFit/>
          </a:bodyPr>
          <a:lstStyle/>
          <a:p>
            <a:pPr algn="ctr">
              <a:lnSpc>
                <a:spcPct val="100000"/>
              </a:lnSpc>
            </a:pPr>
            <a:r>
              <a:rPr sz="1050" b="0">
                <a:solidFill>
                  <a:srgbClr val="EEF2EA"/>
                </a:solidFill>
                <a:latin typeface="Consolas"/>
              </a:rPr>
              <a:t>CRM · core banking · claims · FHIR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14</a:t>
            </a:r>
            <a:r>
              <a:rPr sz="1100" b="0">
                <a:solidFill>
                  <a:srgbClr val="9DB3A4"/>
                </a:solidFill>
                <a:latin typeface="Consolas"/>
              </a:rPr>
              <a:t>  /  15</a:t>
            </a:r>
          </a:p>
        </p:txBody>
      </p:sp>
      <p:sp>
        <p:nvSpPr>
          <p:cNvPr id="5" name="TextBox 4"/>
          <p:cNvSpPr txBox="1"/>
          <p:nvPr/>
        </p:nvSpPr>
        <p:spPr>
          <a:xfrm>
            <a:off x="640080" y="1371600"/>
            <a:ext cx="10058400" cy="320040"/>
          </a:xfrm>
          <a:prstGeom prst="rect">
            <a:avLst/>
          </a:prstGeom>
          <a:noFill/>
        </p:spPr>
        <p:txBody>
          <a:bodyPr wrap="square" anchor="t" lIns="0" rIns="0" tIns="0" bIns="0">
            <a:spAutoFit/>
          </a:bodyPr>
          <a:lstStyle/>
          <a:p>
            <a:pPr algn="l">
              <a:lnSpc>
                <a:spcPct val="100000"/>
              </a:lnSpc>
            </a:pPr>
            <a:r>
              <a:rPr sz="1100" b="0" spc="200">
                <a:solidFill>
                  <a:srgbClr val="D8A24A"/>
                </a:solidFill>
                <a:latin typeface="Consolas"/>
              </a:rPr>
              <a:t>—  </a:t>
            </a:r>
            <a:r>
              <a:rPr sz="1100" b="0" spc="200">
                <a:solidFill>
                  <a:srgbClr val="D8A24A"/>
                </a:solidFill>
                <a:latin typeface="Consolas"/>
              </a:rPr>
              <a:t>NOT SLIDEWARE</a:t>
            </a:r>
          </a:p>
        </p:txBody>
      </p:sp>
      <p:sp>
        <p:nvSpPr>
          <p:cNvPr id="6" name="TextBox 5"/>
          <p:cNvSpPr txBox="1"/>
          <p:nvPr/>
        </p:nvSpPr>
        <p:spPr>
          <a:xfrm>
            <a:off x="640080" y="1783080"/>
            <a:ext cx="10881360" cy="1645920"/>
          </a:xfrm>
          <a:prstGeom prst="rect">
            <a:avLst/>
          </a:prstGeom>
          <a:noFill/>
        </p:spPr>
        <p:txBody>
          <a:bodyPr wrap="square" anchor="t" lIns="0" rIns="0" tIns="0" bIns="0">
            <a:spAutoFit/>
          </a:bodyPr>
          <a:lstStyle/>
          <a:p>
            <a:pPr algn="l">
              <a:lnSpc>
                <a:spcPct val="102000"/>
              </a:lnSpc>
            </a:pPr>
            <a:r>
              <a:rPr sz="3000" b="1">
                <a:solidFill>
                  <a:srgbClr val="EEF2EA"/>
                </a:solidFill>
                <a:latin typeface="Georgia"/>
              </a:rPr>
              <a:t>A working, tested platform — </a:t>
            </a:r>
            <a:r>
              <a:rPr sz="3000" b="1">
                <a:solidFill>
                  <a:srgbClr val="D8A24A"/>
                </a:solidFill>
                <a:latin typeface="Georgia"/>
              </a:rPr>
              <a:t>running today.</a:t>
            </a:r>
          </a:p>
        </p:txBody>
      </p:sp>
      <p:sp>
        <p:nvSpPr>
          <p:cNvPr id="7" name="Rounded Rectangle 6"/>
          <p:cNvSpPr/>
          <p:nvPr/>
        </p:nvSpPr>
        <p:spPr>
          <a:xfrm>
            <a:off x="640080" y="2697480"/>
            <a:ext cx="2697480" cy="10515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807208"/>
            <a:ext cx="2331720" cy="502920"/>
          </a:xfrm>
          <a:prstGeom prst="rect">
            <a:avLst/>
          </a:prstGeom>
          <a:noFill/>
        </p:spPr>
        <p:txBody>
          <a:bodyPr wrap="square" anchor="t" lIns="0" rIns="0" tIns="0" bIns="0">
            <a:spAutoFit/>
          </a:bodyPr>
          <a:lstStyle/>
          <a:p>
            <a:pPr algn="l">
              <a:lnSpc>
                <a:spcPct val="100000"/>
              </a:lnSpc>
            </a:pPr>
            <a:r>
              <a:rPr sz="2600" b="1">
                <a:solidFill>
                  <a:srgbClr val="D8A24A"/>
                </a:solidFill>
                <a:latin typeface="Georgia"/>
              </a:rPr>
              <a:t>21+</a:t>
            </a:r>
          </a:p>
        </p:txBody>
      </p:sp>
      <p:sp>
        <p:nvSpPr>
          <p:cNvPr id="9" name="TextBox 8"/>
          <p:cNvSpPr txBox="1"/>
          <p:nvPr/>
        </p:nvSpPr>
        <p:spPr>
          <a:xfrm>
            <a:off x="841247" y="3300984"/>
            <a:ext cx="2331720" cy="457200"/>
          </a:xfrm>
          <a:prstGeom prst="rect">
            <a:avLst/>
          </a:prstGeom>
          <a:noFill/>
        </p:spPr>
        <p:txBody>
          <a:bodyPr wrap="square" anchor="t" lIns="0" rIns="0" tIns="0" bIns="0">
            <a:spAutoFit/>
          </a:bodyPr>
          <a:lstStyle/>
          <a:p>
            <a:pPr algn="l">
              <a:lnSpc>
                <a:spcPct val="110000"/>
              </a:lnSpc>
            </a:pPr>
            <a:r>
              <a:rPr sz="800" b="0" spc="90">
                <a:solidFill>
                  <a:srgbClr val="9DB3A4"/>
                </a:solidFill>
                <a:latin typeface="Consolas"/>
              </a:rPr>
              <a:t>BOUNDED CONTEXTS, ONE CORE</a:t>
            </a:r>
          </a:p>
        </p:txBody>
      </p:sp>
      <p:sp>
        <p:nvSpPr>
          <p:cNvPr id="10" name="Rounded Rectangle 9"/>
          <p:cNvSpPr/>
          <p:nvPr/>
        </p:nvSpPr>
        <p:spPr>
          <a:xfrm>
            <a:off x="3474720" y="2697480"/>
            <a:ext cx="2697480" cy="10515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7" y="2807208"/>
            <a:ext cx="2331720" cy="502920"/>
          </a:xfrm>
          <a:prstGeom prst="rect">
            <a:avLst/>
          </a:prstGeom>
          <a:noFill/>
        </p:spPr>
        <p:txBody>
          <a:bodyPr wrap="square" anchor="t" lIns="0" rIns="0" tIns="0" bIns="0">
            <a:spAutoFit/>
          </a:bodyPr>
          <a:lstStyle/>
          <a:p>
            <a:pPr algn="l">
              <a:lnSpc>
                <a:spcPct val="100000"/>
              </a:lnSpc>
            </a:pPr>
            <a:r>
              <a:rPr sz="2600" b="1">
                <a:solidFill>
                  <a:srgbClr val="D8A24A"/>
                </a:solidFill>
                <a:latin typeface="Georgia"/>
              </a:rPr>
              <a:t>214</a:t>
            </a:r>
          </a:p>
        </p:txBody>
      </p:sp>
      <p:sp>
        <p:nvSpPr>
          <p:cNvPr id="12" name="TextBox 11"/>
          <p:cNvSpPr txBox="1"/>
          <p:nvPr/>
        </p:nvSpPr>
        <p:spPr>
          <a:xfrm>
            <a:off x="3675887" y="3300984"/>
            <a:ext cx="2331720" cy="457200"/>
          </a:xfrm>
          <a:prstGeom prst="rect">
            <a:avLst/>
          </a:prstGeom>
          <a:noFill/>
        </p:spPr>
        <p:txBody>
          <a:bodyPr wrap="square" anchor="t" lIns="0" rIns="0" tIns="0" bIns="0">
            <a:spAutoFit/>
          </a:bodyPr>
          <a:lstStyle/>
          <a:p>
            <a:pPr algn="l">
              <a:lnSpc>
                <a:spcPct val="110000"/>
              </a:lnSpc>
            </a:pPr>
            <a:r>
              <a:rPr sz="800" b="0" spc="90">
                <a:solidFill>
                  <a:srgbClr val="9DB3A4"/>
                </a:solidFill>
                <a:latin typeface="Consolas"/>
              </a:rPr>
              <a:t>AUTOMATED TESTS PASSING</a:t>
            </a:r>
          </a:p>
        </p:txBody>
      </p:sp>
      <p:sp>
        <p:nvSpPr>
          <p:cNvPr id="13" name="Rounded Rectangle 12"/>
          <p:cNvSpPr/>
          <p:nvPr/>
        </p:nvSpPr>
        <p:spPr>
          <a:xfrm>
            <a:off x="6309360" y="2697480"/>
            <a:ext cx="2697480" cy="10515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807208"/>
            <a:ext cx="2331720" cy="502920"/>
          </a:xfrm>
          <a:prstGeom prst="rect">
            <a:avLst/>
          </a:prstGeom>
          <a:noFill/>
        </p:spPr>
        <p:txBody>
          <a:bodyPr wrap="square" anchor="t" lIns="0" rIns="0" tIns="0" bIns="0">
            <a:spAutoFit/>
          </a:bodyPr>
          <a:lstStyle/>
          <a:p>
            <a:pPr algn="l">
              <a:lnSpc>
                <a:spcPct val="100000"/>
              </a:lnSpc>
            </a:pPr>
            <a:r>
              <a:rPr sz="2600" b="1">
                <a:solidFill>
                  <a:srgbClr val="D8A24A"/>
                </a:solidFill>
                <a:latin typeface="Georgia"/>
              </a:rPr>
              <a:t>4</a:t>
            </a:r>
          </a:p>
        </p:txBody>
      </p:sp>
      <p:sp>
        <p:nvSpPr>
          <p:cNvPr id="15" name="TextBox 14"/>
          <p:cNvSpPr txBox="1"/>
          <p:nvPr/>
        </p:nvSpPr>
        <p:spPr>
          <a:xfrm>
            <a:off x="6510528" y="3300984"/>
            <a:ext cx="2331720" cy="457200"/>
          </a:xfrm>
          <a:prstGeom prst="rect">
            <a:avLst/>
          </a:prstGeom>
          <a:noFill/>
        </p:spPr>
        <p:txBody>
          <a:bodyPr wrap="square" anchor="t" lIns="0" rIns="0" tIns="0" bIns="0">
            <a:spAutoFit/>
          </a:bodyPr>
          <a:lstStyle/>
          <a:p>
            <a:pPr algn="l">
              <a:lnSpc>
                <a:spcPct val="110000"/>
              </a:lnSpc>
            </a:pPr>
            <a:r>
              <a:rPr sz="800" b="0" spc="90">
                <a:solidFill>
                  <a:srgbClr val="9DB3A4"/>
                </a:solidFill>
                <a:latin typeface="Consolas"/>
              </a:rPr>
              <a:t>API SURFACES · REST · GRAPHQL · MCP · WEBHOOKS</a:t>
            </a:r>
          </a:p>
        </p:txBody>
      </p:sp>
      <p:sp>
        <p:nvSpPr>
          <p:cNvPr id="16" name="Rounded Rectangle 15"/>
          <p:cNvSpPr/>
          <p:nvPr/>
        </p:nvSpPr>
        <p:spPr>
          <a:xfrm>
            <a:off x="9144000" y="2697480"/>
            <a:ext cx="2697480" cy="1051560"/>
          </a:xfrm>
          <a:prstGeom prst="roundRect">
            <a:avLst>
              <a:gd name="adj" fmla="val 5000"/>
            </a:avLst>
          </a:prstGeom>
          <a:solidFill>
            <a:srgbClr val="11221A"/>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45168" y="2807208"/>
            <a:ext cx="2331720" cy="502920"/>
          </a:xfrm>
          <a:prstGeom prst="rect">
            <a:avLst/>
          </a:prstGeom>
          <a:noFill/>
        </p:spPr>
        <p:txBody>
          <a:bodyPr wrap="square" anchor="t" lIns="0" rIns="0" tIns="0" bIns="0">
            <a:spAutoFit/>
          </a:bodyPr>
          <a:lstStyle/>
          <a:p>
            <a:pPr algn="l">
              <a:lnSpc>
                <a:spcPct val="100000"/>
              </a:lnSpc>
            </a:pPr>
            <a:r>
              <a:rPr sz="2600" b="1">
                <a:solidFill>
                  <a:srgbClr val="D8A24A"/>
                </a:solidFill>
                <a:latin typeface="Georgia"/>
              </a:rPr>
              <a:t>6</a:t>
            </a:r>
          </a:p>
        </p:txBody>
      </p:sp>
      <p:sp>
        <p:nvSpPr>
          <p:cNvPr id="18" name="TextBox 17"/>
          <p:cNvSpPr txBox="1"/>
          <p:nvPr/>
        </p:nvSpPr>
        <p:spPr>
          <a:xfrm>
            <a:off x="9345168" y="3300984"/>
            <a:ext cx="2331720" cy="457200"/>
          </a:xfrm>
          <a:prstGeom prst="rect">
            <a:avLst/>
          </a:prstGeom>
          <a:noFill/>
        </p:spPr>
        <p:txBody>
          <a:bodyPr wrap="square" anchor="t" lIns="0" rIns="0" tIns="0" bIns="0">
            <a:spAutoFit/>
          </a:bodyPr>
          <a:lstStyle/>
          <a:p>
            <a:pPr algn="l">
              <a:lnSpc>
                <a:spcPct val="110000"/>
              </a:lnSpc>
            </a:pPr>
            <a:r>
              <a:rPr sz="800" b="0" spc="90">
                <a:solidFill>
                  <a:srgbClr val="9DB3A4"/>
                </a:solidFill>
                <a:latin typeface="Consolas"/>
              </a:rPr>
              <a:t>RENDER FORMATS · HTML · PDF · EMAIL · SMS · TEXT · VOICE</a:t>
            </a:r>
          </a:p>
        </p:txBody>
      </p:sp>
      <p:pic>
        <p:nvPicPr>
          <p:cNvPr id="19" name="Picture 18" descr="u-dashboard.jpg"/>
          <p:cNvPicPr>
            <a:picLocks noChangeAspect="1"/>
          </p:cNvPicPr>
          <p:nvPr/>
        </p:nvPicPr>
        <p:blipFill>
          <a:blip r:embed="rId2"/>
          <a:stretch>
            <a:fillRect/>
          </a:stretch>
        </p:blipFill>
        <p:spPr>
          <a:xfrm>
            <a:off x="640080" y="3977639"/>
            <a:ext cx="2697480" cy="1685925"/>
          </a:xfrm>
          <a:prstGeom prst="rect">
            <a:avLst/>
          </a:prstGeom>
          <a:ln w="12700">
            <a:solidFill>
              <a:srgbClr val="2A4033"/>
            </a:solidFill>
          </a:ln>
        </p:spPr>
      </p:pic>
      <p:sp>
        <p:nvSpPr>
          <p:cNvPr id="20" name="TextBox 19"/>
          <p:cNvSpPr txBox="1"/>
          <p:nvPr/>
        </p:nvSpPr>
        <p:spPr>
          <a:xfrm>
            <a:off x="640080" y="5755004"/>
            <a:ext cx="2697480" cy="457200"/>
          </a:xfrm>
          <a:prstGeom prst="rect">
            <a:avLst/>
          </a:prstGeom>
          <a:noFill/>
        </p:spPr>
        <p:txBody>
          <a:bodyPr wrap="square" anchor="t" lIns="0" rIns="0" tIns="0" bIns="0">
            <a:spAutoFit/>
          </a:bodyPr>
          <a:lstStyle/>
          <a:p>
            <a:pPr algn="l">
              <a:lnSpc>
                <a:spcPct val="115000"/>
              </a:lnSpc>
            </a:pPr>
            <a:r>
              <a:rPr sz="750" b="0" spc="80">
                <a:solidFill>
                  <a:srgbClr val="D8A24A"/>
                </a:solidFill>
                <a:latin typeface="Consolas"/>
              </a:rPr>
              <a:t>OPERATOR CONSOLE — OUTCOMES &amp; AUDIT CHAIN</a:t>
            </a:r>
          </a:p>
        </p:txBody>
      </p:sp>
      <p:pic>
        <p:nvPicPr>
          <p:cNvPr id="21" name="Picture 20" descr="u-designer.jpg"/>
          <p:cNvPicPr>
            <a:picLocks noChangeAspect="1"/>
          </p:cNvPicPr>
          <p:nvPr/>
        </p:nvPicPr>
        <p:blipFill>
          <a:blip r:embed="rId3"/>
          <a:stretch>
            <a:fillRect/>
          </a:stretch>
        </p:blipFill>
        <p:spPr>
          <a:xfrm>
            <a:off x="3474720" y="3977639"/>
            <a:ext cx="2697480" cy="1685925"/>
          </a:xfrm>
          <a:prstGeom prst="rect">
            <a:avLst/>
          </a:prstGeom>
          <a:ln w="12700">
            <a:solidFill>
              <a:srgbClr val="2A4033"/>
            </a:solidFill>
          </a:ln>
        </p:spPr>
      </p:pic>
      <p:sp>
        <p:nvSpPr>
          <p:cNvPr id="22" name="TextBox 21"/>
          <p:cNvSpPr txBox="1"/>
          <p:nvPr/>
        </p:nvSpPr>
        <p:spPr>
          <a:xfrm>
            <a:off x="3474720" y="5755004"/>
            <a:ext cx="2697480" cy="457200"/>
          </a:xfrm>
          <a:prstGeom prst="rect">
            <a:avLst/>
          </a:prstGeom>
          <a:noFill/>
        </p:spPr>
        <p:txBody>
          <a:bodyPr wrap="square" anchor="t" lIns="0" rIns="0" tIns="0" bIns="0">
            <a:spAutoFit/>
          </a:bodyPr>
          <a:lstStyle/>
          <a:p>
            <a:pPr algn="l">
              <a:lnSpc>
                <a:spcPct val="115000"/>
              </a:lnSpc>
            </a:pPr>
            <a:r>
              <a:rPr sz="750" b="0" spc="80">
                <a:solidFill>
                  <a:srgbClr val="D8A24A"/>
                </a:solidFill>
                <a:latin typeface="Consolas"/>
              </a:rPr>
              <a:t>TEMPLATE DESIGNER — AUTHOR &amp; GOVERN</a:t>
            </a:r>
          </a:p>
        </p:txBody>
      </p:sp>
      <p:pic>
        <p:nvPicPr>
          <p:cNvPr id="23" name="Picture 22" descr="u-viewer.jpg"/>
          <p:cNvPicPr>
            <a:picLocks noChangeAspect="1"/>
          </p:cNvPicPr>
          <p:nvPr/>
        </p:nvPicPr>
        <p:blipFill>
          <a:blip r:embed="rId4"/>
          <a:stretch>
            <a:fillRect/>
          </a:stretch>
        </p:blipFill>
        <p:spPr>
          <a:xfrm>
            <a:off x="6309360" y="3977639"/>
            <a:ext cx="2697480" cy="1685925"/>
          </a:xfrm>
          <a:prstGeom prst="rect">
            <a:avLst/>
          </a:prstGeom>
          <a:ln w="12700">
            <a:solidFill>
              <a:srgbClr val="2A4033"/>
            </a:solidFill>
          </a:ln>
        </p:spPr>
      </p:pic>
      <p:sp>
        <p:nvSpPr>
          <p:cNvPr id="24" name="TextBox 23"/>
          <p:cNvSpPr txBox="1"/>
          <p:nvPr/>
        </p:nvSpPr>
        <p:spPr>
          <a:xfrm>
            <a:off x="6309360" y="5755004"/>
            <a:ext cx="2697480" cy="457200"/>
          </a:xfrm>
          <a:prstGeom prst="rect">
            <a:avLst/>
          </a:prstGeom>
          <a:noFill/>
        </p:spPr>
        <p:txBody>
          <a:bodyPr wrap="square" anchor="t" lIns="0" rIns="0" tIns="0" bIns="0">
            <a:spAutoFit/>
          </a:bodyPr>
          <a:lstStyle/>
          <a:p>
            <a:pPr algn="l">
              <a:lnSpc>
                <a:spcPct val="115000"/>
              </a:lnSpc>
            </a:pPr>
            <a:r>
              <a:rPr sz="750" b="0" spc="80">
                <a:solidFill>
                  <a:srgbClr val="D8A24A"/>
                </a:solidFill>
                <a:latin typeface="Consolas"/>
              </a:rPr>
              <a:t>INTERACTIVE VIEWER — THE CUSTOMER EXPERIENCE</a:t>
            </a:r>
          </a:p>
        </p:txBody>
      </p:sp>
      <p:pic>
        <p:nvPicPr>
          <p:cNvPr id="25" name="Picture 24" descr="u-agent.jpg"/>
          <p:cNvPicPr>
            <a:picLocks noChangeAspect="1"/>
          </p:cNvPicPr>
          <p:nvPr/>
        </p:nvPicPr>
        <p:blipFill>
          <a:blip r:embed="rId5"/>
          <a:stretch>
            <a:fillRect/>
          </a:stretch>
        </p:blipFill>
        <p:spPr>
          <a:xfrm>
            <a:off x="9144000" y="3977639"/>
            <a:ext cx="2697480" cy="1685925"/>
          </a:xfrm>
          <a:prstGeom prst="rect">
            <a:avLst/>
          </a:prstGeom>
          <a:ln w="12700">
            <a:solidFill>
              <a:srgbClr val="2A4033"/>
            </a:solidFill>
          </a:ln>
        </p:spPr>
      </p:pic>
      <p:sp>
        <p:nvSpPr>
          <p:cNvPr id="26" name="TextBox 25"/>
          <p:cNvSpPr txBox="1"/>
          <p:nvPr/>
        </p:nvSpPr>
        <p:spPr>
          <a:xfrm>
            <a:off x="9144000" y="5755004"/>
            <a:ext cx="2697480" cy="457200"/>
          </a:xfrm>
          <a:prstGeom prst="rect">
            <a:avLst/>
          </a:prstGeom>
          <a:noFill/>
        </p:spPr>
        <p:txBody>
          <a:bodyPr wrap="square" anchor="t" lIns="0" rIns="0" tIns="0" bIns="0">
            <a:spAutoFit/>
          </a:bodyPr>
          <a:lstStyle/>
          <a:p>
            <a:pPr algn="l">
              <a:lnSpc>
                <a:spcPct val="115000"/>
              </a:lnSpc>
            </a:pPr>
            <a:r>
              <a:rPr sz="750" b="0" spc="80">
                <a:solidFill>
                  <a:srgbClr val="D8A24A"/>
                </a:solidFill>
                <a:latin typeface="Consolas"/>
              </a:rPr>
              <a:t>AGENT DESK — FULL AUDITED TIMELINE</a:t>
            </a:r>
          </a:p>
        </p:txBody>
      </p:sp>
      <p:sp>
        <p:nvSpPr>
          <p:cNvPr id="27" name="TextBox 26"/>
          <p:cNvSpPr txBox="1"/>
          <p:nvPr/>
        </p:nvSpPr>
        <p:spPr>
          <a:xfrm>
            <a:off x="640080" y="6355080"/>
            <a:ext cx="10881360" cy="365760"/>
          </a:xfrm>
          <a:prstGeom prst="rect">
            <a:avLst/>
          </a:prstGeom>
          <a:noFill/>
        </p:spPr>
        <p:txBody>
          <a:bodyPr wrap="square" anchor="t" lIns="0" rIns="0" tIns="0" bIns="0">
            <a:spAutoFit/>
          </a:bodyPr>
          <a:lstStyle/>
          <a:p>
            <a:pPr algn="l">
              <a:lnSpc>
                <a:spcPct val="100000"/>
              </a:lnSpc>
            </a:pPr>
            <a:r>
              <a:rPr sz="1200" b="0">
                <a:solidFill>
                  <a:srgbClr val="7FB99A"/>
                </a:solidFill>
                <a:latin typeface="Calibri"/>
              </a:rPr>
              <a:t>Every screen in this deck is the running product — ask for the live walkthrough.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4572000" cy="365760"/>
          </a:xfrm>
          <a:prstGeom prst="rect">
            <a:avLst/>
          </a:prstGeom>
          <a:noFill/>
        </p:spPr>
        <p:txBody>
          <a:bodyPr wrap="square" anchor="t" lIns="0" rIns="0" tIns="0" bIns="0">
            <a:spAutoFit/>
          </a:bodyPr>
          <a:lstStyle/>
          <a:p>
            <a:pPr algn="l">
              <a:lnSpc>
                <a:spcPct val="100000"/>
              </a:lnSpc>
            </a:pPr>
            <a:r>
              <a:rPr sz="1700" b="1">
                <a:solidFill>
                  <a:srgbClr val="EEF2EA"/>
                </a:solidFill>
                <a:latin typeface="Georgia"/>
              </a:rPr>
              <a:t>Acorn </a:t>
            </a:r>
            <a:r>
              <a:rPr sz="1700" b="1">
                <a:solidFill>
                  <a:srgbClr val="D8A24A"/>
                </a:solidFill>
                <a:latin typeface="Georgia"/>
              </a:rPr>
              <a:t>OS</a:t>
            </a:r>
          </a:p>
        </p:txBody>
      </p:sp>
      <p:sp>
        <p:nvSpPr>
          <p:cNvPr id="4" name="TextBox 3"/>
          <p:cNvSpPr txBox="1"/>
          <p:nvPr/>
        </p:nvSpPr>
        <p:spPr>
          <a:xfrm>
            <a:off x="9814255" y="6309360"/>
            <a:ext cx="1828800" cy="320040"/>
          </a:xfrm>
          <a:prstGeom prst="rect">
            <a:avLst/>
          </a:prstGeom>
          <a:noFill/>
        </p:spPr>
        <p:txBody>
          <a:bodyPr wrap="square" anchor="t" lIns="0" rIns="0" tIns="0" bIns="0">
            <a:spAutoFit/>
          </a:bodyPr>
          <a:lstStyle/>
          <a:p>
            <a:pPr algn="r">
              <a:lnSpc>
                <a:spcPct val="100000"/>
              </a:lnSpc>
            </a:pPr>
            <a:r>
              <a:rPr sz="1100" b="0">
                <a:solidFill>
                  <a:srgbClr val="D8A24A"/>
                </a:solidFill>
                <a:latin typeface="Consolas"/>
              </a:rPr>
              <a:t>15</a:t>
            </a:r>
            <a:r>
              <a:rPr sz="1100" b="0">
                <a:solidFill>
                  <a:srgbClr val="9DB3A4"/>
                </a:solidFill>
                <a:latin typeface="Consolas"/>
              </a:rPr>
              <a:t>  /  15</a:t>
            </a:r>
          </a:p>
        </p:txBody>
      </p:sp>
      <p:sp>
        <p:nvSpPr>
          <p:cNvPr id="5" name="TextBox 4"/>
          <p:cNvSpPr txBox="1"/>
          <p:nvPr/>
        </p:nvSpPr>
        <p:spPr>
          <a:xfrm>
            <a:off x="822960" y="1371600"/>
            <a:ext cx="10515600" cy="365760"/>
          </a:xfrm>
          <a:prstGeom prst="rect">
            <a:avLst/>
          </a:prstGeom>
          <a:noFill/>
        </p:spPr>
        <p:txBody>
          <a:bodyPr wrap="square" anchor="t" lIns="0" rIns="0" tIns="0" bIns="0">
            <a:spAutoFit/>
          </a:bodyPr>
          <a:lstStyle/>
          <a:p>
            <a:pPr algn="ctr">
              <a:lnSpc>
                <a:spcPct val="100000"/>
              </a:lnSpc>
            </a:pPr>
            <a:r>
              <a:rPr sz="1200" b="0" spc="220">
                <a:solidFill>
                  <a:srgbClr val="D8A24A"/>
                </a:solidFill>
                <a:latin typeface="Consolas"/>
              </a:rPr>
              <a:t>—  </a:t>
            </a:r>
            <a:r>
              <a:rPr sz="1200" b="0" spc="220">
                <a:solidFill>
                  <a:srgbClr val="D8A24A"/>
                </a:solidFill>
                <a:latin typeface="Consolas"/>
              </a:rPr>
              <a:t>NEXT STEP</a:t>
            </a:r>
          </a:p>
        </p:txBody>
      </p:sp>
      <p:sp>
        <p:nvSpPr>
          <p:cNvPr id="6" name="TextBox 5"/>
          <p:cNvSpPr txBox="1"/>
          <p:nvPr/>
        </p:nvSpPr>
        <p:spPr>
          <a:xfrm>
            <a:off x="914400" y="2148840"/>
            <a:ext cx="10332720" cy="1463040"/>
          </a:xfrm>
          <a:prstGeom prst="rect">
            <a:avLst/>
          </a:prstGeom>
          <a:noFill/>
        </p:spPr>
        <p:txBody>
          <a:bodyPr wrap="square" anchor="t" lIns="0" rIns="0" tIns="0" bIns="0">
            <a:spAutoFit/>
          </a:bodyPr>
          <a:lstStyle/>
          <a:p>
            <a:pPr algn="ctr">
              <a:lnSpc>
                <a:spcPct val="100000"/>
              </a:lnSpc>
            </a:pPr>
            <a:r>
              <a:rPr sz="5200" b="1">
                <a:solidFill>
                  <a:srgbClr val="EEF2EA"/>
                </a:solidFill>
                <a:latin typeface="Georgia"/>
              </a:rPr>
              <a:t>Let's compose your first </a:t>
            </a:r>
            <a:r>
              <a:rPr sz="5200" b="1">
                <a:solidFill>
                  <a:srgbClr val="D8A24A"/>
                </a:solidFill>
                <a:latin typeface="Georgia"/>
              </a:rPr>
              <a:t>outcome.</a:t>
            </a:r>
          </a:p>
        </p:txBody>
      </p:sp>
      <p:sp>
        <p:nvSpPr>
          <p:cNvPr id="7" name="TextBox 6"/>
          <p:cNvSpPr txBox="1"/>
          <p:nvPr/>
        </p:nvSpPr>
        <p:spPr>
          <a:xfrm>
            <a:off x="1371600" y="3703320"/>
            <a:ext cx="9418320" cy="457200"/>
          </a:xfrm>
          <a:prstGeom prst="rect">
            <a:avLst/>
          </a:prstGeom>
          <a:noFill/>
        </p:spPr>
        <p:txBody>
          <a:bodyPr wrap="square" anchor="t" lIns="0" rIns="0" tIns="0" bIns="0">
            <a:spAutoFit/>
          </a:bodyPr>
          <a:lstStyle/>
          <a:p>
            <a:pPr algn="ctr">
              <a:lnSpc>
                <a:spcPct val="100000"/>
              </a:lnSpc>
            </a:pPr>
            <a:r>
              <a:rPr sz="1900" b="1">
                <a:solidFill>
                  <a:srgbClr val="EEF2EA"/>
                </a:solidFill>
                <a:latin typeface="Georgia"/>
              </a:rPr>
              <a:t>A time-boxed pilot on one high-value communication.</a:t>
            </a:r>
          </a:p>
        </p:txBody>
      </p:sp>
      <p:sp>
        <p:nvSpPr>
          <p:cNvPr id="8" name="TextBox 7"/>
          <p:cNvSpPr txBox="1"/>
          <p:nvPr/>
        </p:nvSpPr>
        <p:spPr>
          <a:xfrm>
            <a:off x="1828800" y="4206240"/>
            <a:ext cx="8503920" cy="640080"/>
          </a:xfrm>
          <a:prstGeom prst="rect">
            <a:avLst/>
          </a:prstGeom>
          <a:noFill/>
        </p:spPr>
        <p:txBody>
          <a:bodyPr wrap="square" anchor="t" lIns="0" rIns="0" tIns="0" bIns="0">
            <a:spAutoFit/>
          </a:bodyPr>
          <a:lstStyle/>
          <a:p>
            <a:pPr algn="ctr">
              <a:lnSpc>
                <a:spcPct val="120000"/>
              </a:lnSpc>
            </a:pPr>
            <a:r>
              <a:rPr sz="1300" b="0">
                <a:solidFill>
                  <a:srgbClr val="9DB3A4"/>
                </a:solidFill>
                <a:latin typeface="Calibri"/>
              </a:rPr>
              <a:t>Pick your highest-volume or highest-pain communication. We migrate it, make it interactive and accessible, deliver it, and measure the outcome — together.</a:t>
            </a:r>
          </a:p>
        </p:txBody>
      </p:sp>
      <p:sp>
        <p:nvSpPr>
          <p:cNvPr id="9" name="Rounded Rectangle 8"/>
          <p:cNvSpPr/>
          <p:nvPr/>
        </p:nvSpPr>
        <p:spPr>
          <a:xfrm>
            <a:off x="952347" y="5074920"/>
            <a:ext cx="3246120" cy="640080"/>
          </a:xfrm>
          <a:prstGeom prst="roundRect">
            <a:avLst>
              <a:gd name="adj" fmla="val 15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5227" y="5221224"/>
            <a:ext cx="457200" cy="365760"/>
          </a:xfrm>
          <a:prstGeom prst="rect">
            <a:avLst/>
          </a:prstGeom>
          <a:noFill/>
        </p:spPr>
        <p:txBody>
          <a:bodyPr wrap="square" anchor="t" lIns="0" rIns="0" tIns="0" bIns="0">
            <a:spAutoFit/>
          </a:bodyPr>
          <a:lstStyle/>
          <a:p>
            <a:pPr algn="l">
              <a:lnSpc>
                <a:spcPct val="100000"/>
              </a:lnSpc>
            </a:pPr>
            <a:r>
              <a:rPr sz="1500" b="1">
                <a:solidFill>
                  <a:srgbClr val="D8A24A"/>
                </a:solidFill>
                <a:latin typeface="Georgia"/>
              </a:rPr>
              <a:t>1 </a:t>
            </a:r>
          </a:p>
        </p:txBody>
      </p:sp>
      <p:sp>
        <p:nvSpPr>
          <p:cNvPr id="11" name="TextBox 10"/>
          <p:cNvSpPr txBox="1"/>
          <p:nvPr/>
        </p:nvSpPr>
        <p:spPr>
          <a:xfrm>
            <a:off x="1546707" y="5257800"/>
            <a:ext cx="2514600" cy="365760"/>
          </a:xfrm>
          <a:prstGeom prst="rect">
            <a:avLst/>
          </a:prstGeom>
          <a:noFill/>
        </p:spPr>
        <p:txBody>
          <a:bodyPr wrap="square" anchor="t" lIns="0" rIns="0" tIns="0" bIns="0">
            <a:spAutoFit/>
          </a:bodyPr>
          <a:lstStyle/>
          <a:p>
            <a:pPr algn="l">
              <a:lnSpc>
                <a:spcPct val="100000"/>
              </a:lnSpc>
            </a:pPr>
            <a:r>
              <a:rPr sz="1250" b="0">
                <a:solidFill>
                  <a:srgbClr val="EEF2EA"/>
                </a:solidFill>
                <a:latin typeface="Calibri"/>
              </a:rPr>
              <a:t>Pick the communication</a:t>
            </a:r>
          </a:p>
        </p:txBody>
      </p:sp>
      <p:sp>
        <p:nvSpPr>
          <p:cNvPr id="12" name="Rounded Rectangle 11"/>
          <p:cNvSpPr/>
          <p:nvPr/>
        </p:nvSpPr>
        <p:spPr>
          <a:xfrm>
            <a:off x="4472787" y="5074920"/>
            <a:ext cx="3246120" cy="640080"/>
          </a:xfrm>
          <a:prstGeom prst="roundRect">
            <a:avLst>
              <a:gd name="adj" fmla="val 15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5667" y="5221224"/>
            <a:ext cx="457200" cy="365760"/>
          </a:xfrm>
          <a:prstGeom prst="rect">
            <a:avLst/>
          </a:prstGeom>
          <a:noFill/>
        </p:spPr>
        <p:txBody>
          <a:bodyPr wrap="square" anchor="t" lIns="0" rIns="0" tIns="0" bIns="0">
            <a:spAutoFit/>
          </a:bodyPr>
          <a:lstStyle/>
          <a:p>
            <a:pPr algn="l">
              <a:lnSpc>
                <a:spcPct val="100000"/>
              </a:lnSpc>
            </a:pPr>
            <a:r>
              <a:rPr sz="1500" b="1">
                <a:solidFill>
                  <a:srgbClr val="D8A24A"/>
                </a:solidFill>
                <a:latin typeface="Georgia"/>
              </a:rPr>
              <a:t>2 </a:t>
            </a:r>
          </a:p>
        </p:txBody>
      </p:sp>
      <p:sp>
        <p:nvSpPr>
          <p:cNvPr id="14" name="TextBox 13"/>
          <p:cNvSpPr txBox="1"/>
          <p:nvPr/>
        </p:nvSpPr>
        <p:spPr>
          <a:xfrm>
            <a:off x="5067147" y="5257800"/>
            <a:ext cx="2514600" cy="365760"/>
          </a:xfrm>
          <a:prstGeom prst="rect">
            <a:avLst/>
          </a:prstGeom>
          <a:noFill/>
        </p:spPr>
        <p:txBody>
          <a:bodyPr wrap="square" anchor="t" lIns="0" rIns="0" tIns="0" bIns="0">
            <a:spAutoFit/>
          </a:bodyPr>
          <a:lstStyle/>
          <a:p>
            <a:pPr algn="l">
              <a:lnSpc>
                <a:spcPct val="100000"/>
              </a:lnSpc>
            </a:pPr>
            <a:r>
              <a:rPr sz="1250" b="0">
                <a:solidFill>
                  <a:srgbClr val="EEF2EA"/>
                </a:solidFill>
                <a:latin typeface="Calibri"/>
              </a:rPr>
              <a:t>Migrate &amp; make it interactive</a:t>
            </a:r>
          </a:p>
        </p:txBody>
      </p:sp>
      <p:sp>
        <p:nvSpPr>
          <p:cNvPr id="15" name="Rounded Rectangle 14"/>
          <p:cNvSpPr/>
          <p:nvPr/>
        </p:nvSpPr>
        <p:spPr>
          <a:xfrm>
            <a:off x="7993227" y="5074920"/>
            <a:ext cx="3246120" cy="640080"/>
          </a:xfrm>
          <a:prstGeom prst="roundRect">
            <a:avLst>
              <a:gd name="adj" fmla="val 15000"/>
            </a:avLst>
          </a:prstGeom>
          <a:solidFill>
            <a:srgbClr val="162A20"/>
          </a:solidFill>
          <a:ln w="12700">
            <a:solidFill>
              <a:srgbClr val="2A40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6107" y="5221224"/>
            <a:ext cx="457200" cy="365760"/>
          </a:xfrm>
          <a:prstGeom prst="rect">
            <a:avLst/>
          </a:prstGeom>
          <a:noFill/>
        </p:spPr>
        <p:txBody>
          <a:bodyPr wrap="square" anchor="t" lIns="0" rIns="0" tIns="0" bIns="0">
            <a:spAutoFit/>
          </a:bodyPr>
          <a:lstStyle/>
          <a:p>
            <a:pPr algn="l">
              <a:lnSpc>
                <a:spcPct val="100000"/>
              </a:lnSpc>
            </a:pPr>
            <a:r>
              <a:rPr sz="1500" b="1">
                <a:solidFill>
                  <a:srgbClr val="D8A24A"/>
                </a:solidFill>
                <a:latin typeface="Georgia"/>
              </a:rPr>
              <a:t>3 </a:t>
            </a:r>
          </a:p>
        </p:txBody>
      </p:sp>
      <p:sp>
        <p:nvSpPr>
          <p:cNvPr id="17" name="TextBox 16"/>
          <p:cNvSpPr txBox="1"/>
          <p:nvPr/>
        </p:nvSpPr>
        <p:spPr>
          <a:xfrm>
            <a:off x="8587587" y="5257800"/>
            <a:ext cx="2514600" cy="365760"/>
          </a:xfrm>
          <a:prstGeom prst="rect">
            <a:avLst/>
          </a:prstGeom>
          <a:noFill/>
        </p:spPr>
        <p:txBody>
          <a:bodyPr wrap="square" anchor="t" lIns="0" rIns="0" tIns="0" bIns="0">
            <a:spAutoFit/>
          </a:bodyPr>
          <a:lstStyle/>
          <a:p>
            <a:pPr algn="l">
              <a:lnSpc>
                <a:spcPct val="100000"/>
              </a:lnSpc>
            </a:pPr>
            <a:r>
              <a:rPr sz="1250" b="0">
                <a:solidFill>
                  <a:srgbClr val="EEF2EA"/>
                </a:solidFill>
                <a:latin typeface="Calibri"/>
              </a:rPr>
              <a:t>Measure the outcome</a:t>
            </a:r>
          </a:p>
        </p:txBody>
      </p:sp>
      <p:sp>
        <p:nvSpPr>
          <p:cNvPr id="18" name="TextBox 17"/>
          <p:cNvSpPr txBox="1"/>
          <p:nvPr/>
        </p:nvSpPr>
        <p:spPr>
          <a:xfrm>
            <a:off x="640080" y="6172200"/>
            <a:ext cx="10881360" cy="365760"/>
          </a:xfrm>
          <a:prstGeom prst="rect">
            <a:avLst/>
          </a:prstGeom>
          <a:noFill/>
        </p:spPr>
        <p:txBody>
          <a:bodyPr wrap="square" anchor="t" lIns="0" rIns="0" tIns="0" bIns="0">
            <a:spAutoFit/>
          </a:bodyPr>
          <a:lstStyle/>
          <a:p>
            <a:pPr algn="ctr">
              <a:lnSpc>
                <a:spcPct val="100000"/>
              </a:lnSpc>
            </a:pPr>
            <a:r>
              <a:rPr sz="1100" b="0">
                <a:solidFill>
                  <a:srgbClr val="9DB3A4"/>
                </a:solidFill>
                <a:latin typeface="Consolas"/>
              </a:rPr>
              <a:t>Acorn OS · the communication layer for the AI era · </a:t>
            </a:r>
            <a:r>
              <a:rPr sz="1100" b="0">
                <a:solidFill>
                  <a:srgbClr val="D8A24A"/>
                </a:solidFill>
                <a:latin typeface="Consolas"/>
              </a:rPr>
              <a:t>&lt;name&gt; &lt;email&gt;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